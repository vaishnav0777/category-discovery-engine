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605A70"/>
                </a:solidFill>
                <a:latin typeface="Calibri"/>
              </a:rPr>
              <a:t>Categories purchased per user · April 2024 cohort</a:t>
            </a:r>
          </a:p>
        </c:rich>
      </c:tx>
      <c:layout/>
      <c:overlay val="0"/>
    </c:title>
    <c:autoTitleDeleted val="0"/>
    <c:plotArea>
      <c:lineChart>
        <c:grouping val="standard"/>
        <c:varyColors val="0"/>
        <c:ser>
          <c:idx val="0"/>
          <c:order val="0"/>
          <c:tx>
            <c:strRef>
              <c:f>Sheet1!$B$1</c:f>
              <c:strCache>
                <c:ptCount val="1"/>
                <c:pt idx="0">
                  <c:v>Categories purchased</c:v>
                </c:pt>
              </c:strCache>
            </c:strRef>
          </c:tx>
          <c:spPr>
            <a:ln w="41275">
              <a:solidFill>
                <a:srgbClr val="5B2D90"/>
              </a:solidFill>
            </a:ln>
          </c:spPr>
          <c:marker>
            <c:spPr>
              <a:solidFill>
                <a:srgbClr val="5B2D90"/>
              </a:solidFill>
            </c:spPr>
          </c:marker>
          <c:cat>
            <c:strRef>
              <c:f>Sheet1!$A$2:$A$4</c:f>
              <c:strCache>
                <c:ptCount val="3"/>
                <c:pt idx="0">
                  <c:v>Month 1</c:v>
                </c:pt>
                <c:pt idx="1">
                  <c:v>Month 12</c:v>
                </c:pt>
                <c:pt idx="2">
                  <c:v>Month 23</c:v>
                </c:pt>
              </c:strCache>
            </c:strRef>
          </c:cat>
          <c:val>
            <c:numRef>
              <c:f>Sheet1!$B$2:$B$4</c:f>
              <c:numCache>
                <c:formatCode>General</c:formatCode>
                <c:ptCount val="3"/>
                <c:pt idx="0">
                  <c:v>2.6</c:v>
                </c:pt>
                <c:pt idx="1">
                  <c:v>12.0</c:v>
                </c:pt>
                <c:pt idx="2">
                  <c:v>18.0</c:v>
                </c:pt>
              </c:numCache>
            </c:numRef>
          </c:val>
          <c:smooth val="0"/>
        </c:ser>
        <c:dLbls>
          <c:txPr>
            <a:bodyPr/>
            <a:lstStyle/>
            <a:p>
              <a:pPr>
                <a:defRPr sz="1400" b="1">
                  <a:solidFill>
                    <a:srgbClr val="1C1526"/>
                  </a:solidFill>
                  <a:latin typeface="Calibri"/>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none"/>
        <c:minorTickMark val="none"/>
        <c:tickLblPos val="nextTo"/>
        <c:spPr>
          <a:ln>
            <a:solidFill>
              <a:srgbClr val="E3DFEC"/>
            </a:solidFill>
          </a:ln>
        </c:spPr>
        <c:txPr>
          <a:bodyPr/>
          <a:lstStyle/>
          <a:p>
            <a:pPr>
              <a:defRPr sz="1400">
                <a:solidFill>
                  <a:srgbClr val="1C1526"/>
                </a:solidFill>
                <a:latin typeface="Calibri"/>
              </a:defRPr>
            </a:pPr>
          </a:p>
        </c:txPr>
        <c:crossAx val="2140495176"/>
        <c:crosses val="autoZero"/>
        <c:auto val="1"/>
        <c:lblAlgn val="ctr"/>
        <c:lblOffset val="100"/>
        <c:noMultiLvlLbl val="0"/>
      </c:catAx>
      <c:valAx>
        <c:axId val="2140495176"/>
        <c:scaling>
          <c:max val="20.0"/>
        </c:scaling>
        <c:delete val="0"/>
        <c:axPos val="l"/>
        <c:majorGridlines>
          <c:spPr>
            <a:ln w="9525">
              <a:solidFill>
                <a:srgbClr val="E3DFEC"/>
              </a:solidFill>
            </a:ln>
          </c:spPr>
        </c:majorGridlines>
        <c:majorTickMark val="none"/>
        <c:minorTickMark val="none"/>
        <c:tickLblPos val="nextTo"/>
        <c:spPr>
          <a:ln>
            <a:solidFill>
              <a:srgbClr val="E3DFEC"/>
            </a:solidFill>
          </a:ln>
        </c:spPr>
        <c:txPr>
          <a:bodyPr/>
          <a:lstStyle/>
          <a:p>
            <a:pPr>
              <a:defRPr sz="1400">
                <a:solidFill>
                  <a:srgbClr val="605A70"/>
                </a:solidFill>
                <a:latin typeface="Calibri"/>
              </a:defRPr>
            </a:pPr>
          </a:p>
        </c:txPr>
        <c:crossAx val="2118791784"/>
        <c:crosses val="autoZero"/>
      </c:valAx>
    </c:plotArea>
    <c:plotVisOnly val="1"/>
    <c:dispBlanksAs val="gap"/>
    <c:showDLblsOverMax val="0"/>
  </c:chart>
  <c:txPr>
    <a:bodyPr/>
    <a:lstStyle/>
    <a:p>
      <a:pPr>
        <a:defRPr sz="1400">
          <a:solidFill>
            <a:srgbClr val="605A7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605A70"/>
                </a:solidFill>
                <a:latin typeface="Calibri"/>
              </a:rPr>
              <a:t>Barriers found, n=107</a:t>
            </a:r>
          </a:p>
        </c:rich>
      </c:tx>
      <c:layout/>
      <c:overlay val="0"/>
    </c:title>
    <c:autoTitleDeleted val="0"/>
    <c:plotArea>
      <c:barChart>
        <c:barDir val="bar"/>
        <c:grouping val="clustered"/>
        <c:ser>
          <c:idx val="0"/>
          <c:order val="0"/>
          <c:tx>
            <c:strRef>
              <c:f>Sheet1!$B$1</c:f>
              <c:strCache>
                <c:ptCount val="1"/>
                <c:pt idx="0">
                  <c:v>Reviews</c:v>
                </c:pt>
              </c:strCache>
            </c:strRef>
          </c:tx>
          <c:spPr>
            <a:solidFill>
              <a:srgbClr val="0072B2"/>
            </a:solidFill>
          </c:spPr>
          <c:dPt>
            <c:idx val="4"/>
            <c:spPr>
              <a:solidFill>
                <a:srgbClr val="E69F00"/>
              </a:solidFill>
            </c:spPr>
          </c:dPt>
          <c:dPt>
            <c:idx val="5"/>
            <c:spPr>
              <a:solidFill>
                <a:srgbClr val="E69F00"/>
              </a:solidFill>
            </c:spPr>
          </c:dPt>
          <c:cat>
            <c:strRef>
              <c:f>Sheet1!$A$2:$A$7</c:f>
              <c:strCache>
                <c:ptCount val="6"/>
                <c:pt idx="0">
                  <c:v>Fit</c:v>
                </c:pt>
                <c:pt idx="1">
                  <c:v>Awareness</c:v>
                </c:pt>
                <c:pt idx="2">
                  <c:v>Price risk</c:v>
                </c:pt>
                <c:pt idx="3">
                  <c:v>Occasion</c:v>
                </c:pt>
                <c:pt idx="4">
                  <c:v>Trust / expiry</c:v>
                </c:pt>
                <c:pt idx="5">
                  <c:v>Assortment</c:v>
                </c:pt>
              </c:strCache>
            </c:strRef>
          </c:cat>
          <c:val>
            <c:numRef>
              <c:f>Sheet1!$B$2:$B$7</c:f>
              <c:numCache>
                <c:formatCode>General</c:formatCode>
                <c:ptCount val="6"/>
                <c:pt idx="0">
                  <c:v>0</c:v>
                </c:pt>
                <c:pt idx="1">
                  <c:v>3</c:v>
                </c:pt>
                <c:pt idx="2">
                  <c:v>6</c:v>
                </c:pt>
                <c:pt idx="3">
                  <c:v>6</c:v>
                </c:pt>
                <c:pt idx="4">
                  <c:v>41</c:v>
                </c:pt>
                <c:pt idx="5">
                  <c:v>51</c:v>
                </c:pt>
              </c:numCache>
            </c:numRef>
          </c:val>
        </c:ser>
        <c:dLbls>
          <c:txPr>
            <a:bodyPr/>
            <a:lstStyle/>
            <a:p>
              <a:pPr>
                <a:defRPr sz="1400" b="1">
                  <a:solidFill>
                    <a:srgbClr val="1C1526"/>
                  </a:solidFill>
                  <a:latin typeface="Calibri"/>
                </a:defRPr>
              </a:pPr>
            </a:p>
          </c:txPr>
          <c:dLblPos val="outEnd"/>
          <c:showLegendKey val="0"/>
          <c:showVal val="1"/>
          <c:showCatName val="0"/>
          <c:showSerName val="0"/>
          <c:showPercent val="0"/>
          <c:showBubbleSize val="0"/>
          <c:showLeaderLines val="1"/>
        </c:dLbls>
        <c:gapWidth val="48"/>
        <c:axId val="-2068027336"/>
        <c:axId val="-2113994440"/>
      </c:barChart>
      <c:catAx>
        <c:axId val="-2068027336"/>
        <c:scaling>
          <c:orientation val="minMax"/>
        </c:scaling>
        <c:delete val="0"/>
        <c:axPos val="l"/>
        <c:majorTickMark val="none"/>
        <c:minorTickMark val="none"/>
        <c:tickLblPos val="nextTo"/>
        <c:spPr>
          <a:ln>
            <a:solidFill>
              <a:srgbClr val="E3DFEC"/>
            </a:solidFill>
          </a:ln>
        </c:spPr>
        <c:txPr>
          <a:bodyPr/>
          <a:lstStyle/>
          <a:p>
            <a:pPr>
              <a:defRPr sz="1400">
                <a:solidFill>
                  <a:srgbClr val="1C1526"/>
                </a:solidFill>
                <a:latin typeface="Calibri"/>
              </a:defRPr>
            </a:pPr>
          </a:p>
        </c:txPr>
        <c:crossAx val="-2113994440"/>
        <c:crosses val="autoZero"/>
        <c:auto val="1"/>
        <c:lblAlgn val="ctr"/>
        <c:lblOffset val="100"/>
        <c:noMultiLvlLbl val="0"/>
      </c:catAx>
      <c:valAx>
        <c:axId val="-2113994440"/>
        <c:scaling/>
        <c:delete val="0"/>
        <c:axPos val="b"/>
        <c:majorGridlines>
          <c:spPr>
            <a:ln w="9525">
              <a:solidFill>
                <a:srgbClr val="E3DFEC"/>
              </a:solidFill>
            </a:ln>
          </c:spPr>
        </c:majorGridlines>
        <c:majorTickMark val="none"/>
        <c:minorTickMark val="none"/>
        <c:tickLblPos val="nextTo"/>
        <c:spPr>
          <a:ln>
            <a:solidFill>
              <a:srgbClr val="E3DFEC"/>
            </a:solidFill>
          </a:ln>
        </c:spPr>
        <c:txPr>
          <a:bodyPr/>
          <a:lstStyle/>
          <a:p>
            <a:pPr>
              <a:defRPr sz="1400">
                <a:solidFill>
                  <a:srgbClr val="605A70"/>
                </a:solidFill>
                <a:latin typeface="Calibri"/>
              </a:defRPr>
            </a:pPr>
          </a:p>
        </c:txPr>
        <c:crossAx val="-2068027336"/>
        <c:crosses val="autoZero"/>
      </c:valAx>
    </c:plotArea>
    <c:dispBlanksAs val="gap"/>
  </c:chart>
  <c:txPr>
    <a:bodyPr/>
    <a:lstStyle/>
    <a:p>
      <a:pPr>
        <a:defRPr sz="1400">
          <a:solidFill>
            <a:srgbClr val="605A7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Zepto's category problem is usually told as a habit story. The DRHP says otherwise, and that changes what you build.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rate arithmetic is the whole slide: 9.4 categories added over 11 months, then 6.0 over the next 11.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required workflow slide. Emphasise stage 6: validation is what makes the other five believable.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apologise for this slide. A negative result with a stated mechanism is a stronger finding than a tidy chart, and it is what makes the interviews load-bearing rather than decorative.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bug. Volunteering an error you caught yourself is more persuasive than any accuracy number, because it proves the process rather than asserting the result.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the engine didn't prove the thesis: it couldn't, and I can show you why. Then the interviews did. That sequence is the argument for doing both.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user-value case is the previous slide. This one is purely the business case.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fact that the surface changed. Volunteering that six users overturned your own design decision is worth more than defending the original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the secondary metric. Most decks avoid a metric that can make their own feature look bad; including one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amber URLs must be replaced and opened in a private window before submitting. Further DRHP figures (ATU decline, delivery times, CCPA notice) are corroborated at tradebrains.in/zepto-ipo-here-are-10-hidden-things-in-the-drhp-that-most-investors-will-miss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pto-discovery-engine.netlify.app" TargetMode="External"/><Relationship Id="rId3" Type="http://schemas.openxmlformats.org/officeDocument/2006/relationships/hyperlink" Target="https://docs.google.com/document/d/1UOKiCVZJJFBArk32fbHKr4IS8YMwVuk8/edit?usp=sharing" TargetMode="External"/><Relationship Id="rId4" Type="http://schemas.openxmlformats.org/officeDocument/2006/relationships/hyperlink" Target="https://finixschool.substack.com/p/inside-zepto-how-the-business-actually" TargetMode="External"/><Relationship Id="rId5" Type="http://schemas.openxmlformats.org/officeDocument/2006/relationships/hyperlink" Target="https://www.mordorintelligence.com/industry-reports/q-commerce-industry-in-india" TargetMode="External"/><Relationship Id="rId6"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B1F5C"/>
        </a:solidFill>
        <a:effectLst/>
      </p:bgPr>
    </p:bg>
    <p:spTree>
      <p:nvGrpSpPr>
        <p:cNvPr id="1" name=""/>
        <p:cNvGrpSpPr/>
        <p:nvPr/>
      </p:nvGrpSpPr>
      <p:grpSpPr/>
      <p:sp>
        <p:nvSpPr>
          <p:cNvPr id="2" name="TextBox 1"/>
          <p:cNvSpPr txBox="1"/>
          <p:nvPr/>
        </p:nvSpPr>
        <p:spPr>
          <a:xfrm>
            <a:off x="685800" y="658368"/>
            <a:ext cx="10058400" cy="274320"/>
          </a:xfrm>
          <a:prstGeom prst="rect">
            <a:avLst/>
          </a:prstGeom>
          <a:noFill/>
        </p:spPr>
        <p:txBody>
          <a:bodyPr wrap="square" lIns="0" rIns="0" tIns="0" bIns="0">
            <a:spAutoFit/>
          </a:bodyPr>
          <a:lstStyle/>
          <a:p>
            <a:r>
              <a:rPr sz="1400" b="1" i="0" spc="180">
                <a:solidFill>
                  <a:srgbClr val="56B4E9"/>
                </a:solidFill>
                <a:latin typeface="Calibri"/>
              </a:rPr>
              <a:t>GRADUATION PROJECT  ·  GROWTH  ·  JUL 2026</a:t>
            </a:r>
          </a:p>
        </p:txBody>
      </p:sp>
      <p:sp>
        <p:nvSpPr>
          <p:cNvPr id="3" name="TextBox 2"/>
          <p:cNvSpPr txBox="1"/>
          <p:nvPr/>
        </p:nvSpPr>
        <p:spPr>
          <a:xfrm>
            <a:off x="685800" y="1298448"/>
            <a:ext cx="10607040" cy="2011680"/>
          </a:xfrm>
          <a:prstGeom prst="rect">
            <a:avLst/>
          </a:prstGeom>
          <a:noFill/>
        </p:spPr>
        <p:txBody>
          <a:bodyPr wrap="square" lIns="0" rIns="0" tIns="0" bIns="0">
            <a:spAutoFit/>
          </a:bodyPr>
          <a:lstStyle/>
          <a:p>
            <a:pPr>
              <a:lnSpc>
                <a:spcPts val="4800"/>
              </a:lnSpc>
            </a:pPr>
            <a:r>
              <a:rPr sz="3800" b="1" i="0">
                <a:solidFill>
                  <a:srgbClr val="FFFFFF"/>
                </a:solidFill>
                <a:latin typeface="Cambria"/>
              </a:rPr>
              <a:t>Zepto users already reach 18 categories.</a:t>
            </a:r>
          </a:p>
          <a:p>
            <a:pPr>
              <a:lnSpc>
                <a:spcPts val="4800"/>
              </a:lnSpc>
            </a:pPr>
            <a:r>
              <a:rPr sz="3800" b="1" i="0">
                <a:solidFill>
                  <a:srgbClr val="FFFFFF"/>
                </a:solidFill>
                <a:latin typeface="Cambria"/>
              </a:rPr>
              <a:t>The problem is the month they stop.</a:t>
            </a:r>
          </a:p>
        </p:txBody>
      </p:sp>
      <p:sp>
        <p:nvSpPr>
          <p:cNvPr id="4" name="TextBox 3"/>
          <p:cNvSpPr txBox="1"/>
          <p:nvPr/>
        </p:nvSpPr>
        <p:spPr>
          <a:xfrm>
            <a:off x="685800" y="3401568"/>
            <a:ext cx="9966960" cy="457200"/>
          </a:xfrm>
          <a:prstGeom prst="rect">
            <a:avLst/>
          </a:prstGeom>
          <a:noFill/>
        </p:spPr>
        <p:txBody>
          <a:bodyPr wrap="square" lIns="0" rIns="0" tIns="0" bIns="0">
            <a:spAutoFit/>
          </a:bodyPr>
          <a:lstStyle/>
          <a:p>
            <a:r>
              <a:rPr sz="1700" b="0" i="0">
                <a:solidFill>
                  <a:srgbClr val="D7CDE8"/>
                </a:solidFill>
                <a:latin typeface="Calibri"/>
              </a:rPr>
              <a:t>Getting more monthly actives into a new category — by fixing the thing Zepto's own speed broke.</a:t>
            </a:r>
          </a:p>
        </p:txBody>
      </p:sp>
      <p:sp>
        <p:nvSpPr>
          <p:cNvPr id="5" name="Rounded Rectangle 4"/>
          <p:cNvSpPr/>
          <p:nvPr/>
        </p:nvSpPr>
        <p:spPr>
          <a:xfrm>
            <a:off x="685800" y="4224528"/>
            <a:ext cx="3291840" cy="1225296"/>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41832" y="4370832"/>
            <a:ext cx="2834640" cy="502920"/>
          </a:xfrm>
          <a:prstGeom prst="rect">
            <a:avLst/>
          </a:prstGeom>
          <a:noFill/>
        </p:spPr>
        <p:txBody>
          <a:bodyPr wrap="square" lIns="0" rIns="0" tIns="0" bIns="0">
            <a:spAutoFit/>
          </a:bodyPr>
          <a:lstStyle/>
          <a:p>
            <a:r>
              <a:rPr sz="2500" b="1" i="0">
                <a:solidFill>
                  <a:srgbClr val="E69F00"/>
                </a:solidFill>
                <a:latin typeface="Cambria"/>
              </a:rPr>
              <a:t>47.97M</a:t>
            </a:r>
          </a:p>
        </p:txBody>
      </p:sp>
      <p:sp>
        <p:nvSpPr>
          <p:cNvPr id="7" name="TextBox 6"/>
          <p:cNvSpPr txBox="1"/>
          <p:nvPr/>
        </p:nvSpPr>
        <p:spPr>
          <a:xfrm>
            <a:off x="941832" y="4864608"/>
            <a:ext cx="2788920" cy="548640"/>
          </a:xfrm>
          <a:prstGeom prst="rect">
            <a:avLst/>
          </a:prstGeom>
          <a:noFill/>
        </p:spPr>
        <p:txBody>
          <a:bodyPr wrap="square" lIns="0" rIns="0" tIns="0" bIns="0">
            <a:spAutoFit/>
          </a:bodyPr>
          <a:lstStyle/>
          <a:p>
            <a:pPr>
              <a:lnSpc>
                <a:spcPts val="1600"/>
              </a:lnSpc>
            </a:pPr>
            <a:r>
              <a:rPr sz="1400" b="0" i="0">
                <a:solidFill>
                  <a:srgbClr val="CFC3E4"/>
                </a:solidFill>
                <a:latin typeface="Calibri"/>
              </a:rPr>
              <a:t>annual transacting users, FY26</a:t>
            </a:r>
          </a:p>
        </p:txBody>
      </p:sp>
      <p:sp>
        <p:nvSpPr>
          <p:cNvPr id="8" name="Rounded Rectangle 7"/>
          <p:cNvSpPr/>
          <p:nvPr/>
        </p:nvSpPr>
        <p:spPr>
          <a:xfrm>
            <a:off x="4297680" y="4224528"/>
            <a:ext cx="3291840" cy="1225296"/>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53712" y="4370832"/>
            <a:ext cx="2834640" cy="502920"/>
          </a:xfrm>
          <a:prstGeom prst="rect">
            <a:avLst/>
          </a:prstGeom>
          <a:noFill/>
        </p:spPr>
        <p:txBody>
          <a:bodyPr wrap="square" lIns="0" rIns="0" tIns="0" bIns="0">
            <a:spAutoFit/>
          </a:bodyPr>
          <a:lstStyle/>
          <a:p>
            <a:r>
              <a:rPr sz="2500" b="1" i="0">
                <a:solidFill>
                  <a:srgbClr val="E69F00"/>
                </a:solidFill>
                <a:latin typeface="Cambria"/>
              </a:rPr>
              <a:t>₹59.40</a:t>
            </a:r>
          </a:p>
        </p:txBody>
      </p:sp>
      <p:sp>
        <p:nvSpPr>
          <p:cNvPr id="10" name="TextBox 9"/>
          <p:cNvSpPr txBox="1"/>
          <p:nvPr/>
        </p:nvSpPr>
        <p:spPr>
          <a:xfrm>
            <a:off x="4553712" y="4864608"/>
            <a:ext cx="2788920" cy="548640"/>
          </a:xfrm>
          <a:prstGeom prst="rect">
            <a:avLst/>
          </a:prstGeom>
          <a:noFill/>
        </p:spPr>
        <p:txBody>
          <a:bodyPr wrap="square" lIns="0" rIns="0" tIns="0" bIns="0">
            <a:spAutoFit/>
          </a:bodyPr>
          <a:lstStyle/>
          <a:p>
            <a:pPr>
              <a:lnSpc>
                <a:spcPts val="1600"/>
              </a:lnSpc>
            </a:pPr>
            <a:r>
              <a:rPr sz="1400" b="0" i="0">
                <a:solidFill>
                  <a:srgbClr val="CFC3E4"/>
                </a:solidFill>
                <a:latin typeface="Calibri"/>
              </a:rPr>
              <a:t>lost per order, Q4FY26</a:t>
            </a:r>
          </a:p>
        </p:txBody>
      </p:sp>
      <p:sp>
        <p:nvSpPr>
          <p:cNvPr id="11" name="Rounded Rectangle 10"/>
          <p:cNvSpPr/>
          <p:nvPr/>
        </p:nvSpPr>
        <p:spPr>
          <a:xfrm>
            <a:off x="7909560" y="4224528"/>
            <a:ext cx="3291840" cy="1225296"/>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65592" y="4370832"/>
            <a:ext cx="2834640" cy="502920"/>
          </a:xfrm>
          <a:prstGeom prst="rect">
            <a:avLst/>
          </a:prstGeom>
          <a:noFill/>
        </p:spPr>
        <p:txBody>
          <a:bodyPr wrap="square" lIns="0" rIns="0" tIns="0" bIns="0">
            <a:spAutoFit/>
          </a:bodyPr>
          <a:lstStyle/>
          <a:p>
            <a:r>
              <a:rPr sz="2500" b="1" i="0">
                <a:solidFill>
                  <a:srgbClr val="E69F00"/>
                </a:solidFill>
                <a:latin typeface="Cambria"/>
              </a:rPr>
              <a:t>29% → 44%</a:t>
            </a:r>
          </a:p>
        </p:txBody>
      </p:sp>
      <p:sp>
        <p:nvSpPr>
          <p:cNvPr id="13" name="TextBox 12"/>
          <p:cNvSpPr txBox="1"/>
          <p:nvPr/>
        </p:nvSpPr>
        <p:spPr>
          <a:xfrm>
            <a:off x="8165592" y="4864608"/>
            <a:ext cx="2788920" cy="548640"/>
          </a:xfrm>
          <a:prstGeom prst="rect">
            <a:avLst/>
          </a:prstGeom>
          <a:noFill/>
        </p:spPr>
        <p:txBody>
          <a:bodyPr wrap="square" lIns="0" rIns="0" tIns="0" bIns="0">
            <a:spAutoFit/>
          </a:bodyPr>
          <a:lstStyle/>
          <a:p>
            <a:pPr>
              <a:lnSpc>
                <a:spcPts val="1600"/>
              </a:lnSpc>
            </a:pPr>
            <a:r>
              <a:rPr sz="1400" b="0" i="0">
                <a:solidFill>
                  <a:srgbClr val="CFC3E4"/>
                </a:solidFill>
                <a:latin typeface="Calibri"/>
              </a:rPr>
              <a:t>non-grocery share of q-commerce GMV, CY25→CY30</a:t>
            </a:r>
          </a:p>
        </p:txBody>
      </p:sp>
      <p:sp>
        <p:nvSpPr>
          <p:cNvPr id="14" name="TextBox 13"/>
          <p:cNvSpPr txBox="1"/>
          <p:nvPr/>
        </p:nvSpPr>
        <p:spPr>
          <a:xfrm>
            <a:off x="566928" y="6345936"/>
            <a:ext cx="11064240" cy="365760"/>
          </a:xfrm>
          <a:prstGeom prst="rect">
            <a:avLst/>
          </a:prstGeom>
          <a:noFill/>
        </p:spPr>
        <p:txBody>
          <a:bodyPr wrap="square" lIns="0" rIns="0" tIns="0" bIns="0">
            <a:spAutoFit/>
          </a:bodyPr>
          <a:lstStyle/>
          <a:p>
            <a:pPr>
              <a:lnSpc>
                <a:spcPts val="1600"/>
              </a:lnSpc>
            </a:pPr>
            <a:r>
              <a:rPr sz="1400" b="0" i="0">
                <a:solidFill>
                  <a:srgbClr val="8C8A97"/>
                </a:solidFill>
                <a:latin typeface="Calibri"/>
              </a:rPr>
              <a:t>All figures from Zepto's DRHP (July 2026) and published quick-commerce market research. Sources on the final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B2D90"/>
                </a:solidFill>
                <a:latin typeface="Calibri"/>
              </a:rPr>
              <a:t>THE REFRAME</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1C1526"/>
                </a:solidFill>
                <a:latin typeface="Cambria"/>
              </a:rPr>
              <a:t>Breadth isn't the problem. The rate of new categories per month is — and it has already fallen 30%.</a:t>
            </a:r>
          </a:p>
        </p:txBody>
      </p:sp>
      <p:graphicFrame>
        <p:nvGraphicFramePr>
          <p:cNvPr id="4" name="Chart 3"/>
          <p:cNvGraphicFramePr>
            <a:graphicFrameLocks noGrp="1"/>
          </p:cNvGraphicFramePr>
          <p:nvPr/>
        </p:nvGraphicFramePr>
        <p:xfrm>
          <a:off x="566928" y="1783080"/>
          <a:ext cx="5943600" cy="3611880"/>
        </p:xfrm>
        <a:graphic>
          <a:graphicData uri="http://schemas.openxmlformats.org/drawingml/2006/chart">
            <c:chart xmlns:c="http://schemas.openxmlformats.org/drawingml/2006/chart" r:id="rId2"/>
          </a:graphicData>
        </a:graphic>
      </p:graphicFrame>
      <p:sp>
        <p:nvSpPr>
          <p:cNvPr id="5" name="Rounded Rectangle 4"/>
          <p:cNvSpPr/>
          <p:nvPr/>
        </p:nvSpPr>
        <p:spPr>
          <a:xfrm>
            <a:off x="6766560" y="1783080"/>
            <a:ext cx="4846320" cy="1572768"/>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022592" y="1920240"/>
            <a:ext cx="2194560" cy="274320"/>
          </a:xfrm>
          <a:prstGeom prst="rect">
            <a:avLst/>
          </a:prstGeom>
          <a:noFill/>
        </p:spPr>
        <p:txBody>
          <a:bodyPr wrap="square" lIns="0" rIns="0" tIns="0" bIns="0">
            <a:spAutoFit/>
          </a:bodyPr>
          <a:lstStyle/>
          <a:p>
            <a:r>
              <a:rPr sz="1400" b="1" i="0">
                <a:solidFill>
                  <a:srgbClr val="605A70"/>
                </a:solidFill>
                <a:latin typeface="Calibri"/>
              </a:rPr>
              <a:t>Months 1 – 12</a:t>
            </a:r>
          </a:p>
        </p:txBody>
      </p:sp>
      <p:sp>
        <p:nvSpPr>
          <p:cNvPr id="7" name="TextBox 6"/>
          <p:cNvSpPr txBox="1"/>
          <p:nvPr/>
        </p:nvSpPr>
        <p:spPr>
          <a:xfrm>
            <a:off x="7022592" y="2194560"/>
            <a:ext cx="2194560" cy="548640"/>
          </a:xfrm>
          <a:prstGeom prst="rect">
            <a:avLst/>
          </a:prstGeom>
          <a:noFill/>
        </p:spPr>
        <p:txBody>
          <a:bodyPr wrap="square" lIns="0" rIns="0" tIns="0" bIns="0">
            <a:spAutoFit/>
          </a:bodyPr>
          <a:lstStyle/>
          <a:p>
            <a:r>
              <a:rPr sz="3200" b="1" i="0">
                <a:solidFill>
                  <a:srgbClr val="0072B2"/>
                </a:solidFill>
                <a:latin typeface="Cambria"/>
              </a:rPr>
              <a:t>0.78</a:t>
            </a:r>
          </a:p>
        </p:txBody>
      </p:sp>
      <p:sp>
        <p:nvSpPr>
          <p:cNvPr id="8" name="TextBox 7"/>
          <p:cNvSpPr txBox="1"/>
          <p:nvPr/>
        </p:nvSpPr>
        <p:spPr>
          <a:xfrm>
            <a:off x="7022592" y="2743200"/>
            <a:ext cx="2286000" cy="457200"/>
          </a:xfrm>
          <a:prstGeom prst="rect">
            <a:avLst/>
          </a:prstGeom>
          <a:noFill/>
        </p:spPr>
        <p:txBody>
          <a:bodyPr wrap="square" lIns="0" rIns="0" tIns="0" bIns="0">
            <a:spAutoFit/>
          </a:bodyPr>
          <a:lstStyle/>
          <a:p>
            <a:pPr>
              <a:lnSpc>
                <a:spcPts val="1600"/>
              </a:lnSpc>
            </a:pPr>
            <a:r>
              <a:rPr sz="1400" b="0" i="0">
                <a:solidFill>
                  <a:srgbClr val="605A70"/>
                </a:solidFill>
                <a:latin typeface="Calibri"/>
              </a:rPr>
              <a:t>new categories / month</a:t>
            </a:r>
          </a:p>
        </p:txBody>
      </p:sp>
      <p:sp>
        <p:nvSpPr>
          <p:cNvPr id="9" name="TextBox 8"/>
          <p:cNvSpPr txBox="1"/>
          <p:nvPr/>
        </p:nvSpPr>
        <p:spPr>
          <a:xfrm>
            <a:off x="9345168" y="1920240"/>
            <a:ext cx="2194560" cy="274320"/>
          </a:xfrm>
          <a:prstGeom prst="rect">
            <a:avLst/>
          </a:prstGeom>
          <a:noFill/>
        </p:spPr>
        <p:txBody>
          <a:bodyPr wrap="square" lIns="0" rIns="0" tIns="0" bIns="0">
            <a:spAutoFit/>
          </a:bodyPr>
          <a:lstStyle/>
          <a:p>
            <a:r>
              <a:rPr sz="1400" b="1" i="0">
                <a:solidFill>
                  <a:srgbClr val="605A70"/>
                </a:solidFill>
                <a:latin typeface="Calibri"/>
              </a:rPr>
              <a:t>Months 12 – 23</a:t>
            </a:r>
          </a:p>
        </p:txBody>
      </p:sp>
      <p:sp>
        <p:nvSpPr>
          <p:cNvPr id="10" name="TextBox 9"/>
          <p:cNvSpPr txBox="1"/>
          <p:nvPr/>
        </p:nvSpPr>
        <p:spPr>
          <a:xfrm>
            <a:off x="9345168" y="2194560"/>
            <a:ext cx="2194560" cy="548640"/>
          </a:xfrm>
          <a:prstGeom prst="rect">
            <a:avLst/>
          </a:prstGeom>
          <a:noFill/>
        </p:spPr>
        <p:txBody>
          <a:bodyPr wrap="square" lIns="0" rIns="0" tIns="0" bIns="0">
            <a:spAutoFit/>
          </a:bodyPr>
          <a:lstStyle/>
          <a:p>
            <a:r>
              <a:rPr sz="3200" b="1" i="0">
                <a:solidFill>
                  <a:srgbClr val="E69F00"/>
                </a:solidFill>
                <a:latin typeface="Cambria"/>
              </a:rPr>
              <a:t>0.55</a:t>
            </a:r>
          </a:p>
        </p:txBody>
      </p:sp>
      <p:sp>
        <p:nvSpPr>
          <p:cNvPr id="11" name="TextBox 10"/>
          <p:cNvSpPr txBox="1"/>
          <p:nvPr/>
        </p:nvSpPr>
        <p:spPr>
          <a:xfrm>
            <a:off x="9345168" y="2743200"/>
            <a:ext cx="2286000" cy="457200"/>
          </a:xfrm>
          <a:prstGeom prst="rect">
            <a:avLst/>
          </a:prstGeom>
          <a:noFill/>
        </p:spPr>
        <p:txBody>
          <a:bodyPr wrap="square" lIns="0" rIns="0" tIns="0" bIns="0">
            <a:spAutoFit/>
          </a:bodyPr>
          <a:lstStyle/>
          <a:p>
            <a:pPr>
              <a:lnSpc>
                <a:spcPts val="1600"/>
              </a:lnSpc>
            </a:pPr>
            <a:r>
              <a:rPr sz="1400" b="0" i="0">
                <a:solidFill>
                  <a:srgbClr val="605A70"/>
                </a:solidFill>
                <a:latin typeface="Calibri"/>
              </a:rPr>
              <a:t>a 30% collapse in rate</a:t>
            </a:r>
          </a:p>
        </p:txBody>
      </p:sp>
      <p:sp>
        <p:nvSpPr>
          <p:cNvPr id="12" name="Rounded Rectangle 11"/>
          <p:cNvSpPr/>
          <p:nvPr/>
        </p:nvSpPr>
        <p:spPr>
          <a:xfrm>
            <a:off x="6766560" y="3520440"/>
            <a:ext cx="4846320" cy="1965960"/>
          </a:xfrm>
          <a:prstGeom prst="roundRect">
            <a:avLst>
              <a:gd name="adj" fmla="val 5500"/>
            </a:avLst>
          </a:prstGeom>
          <a:solidFill>
            <a:srgbClr val="FDF6E8"/>
          </a:solidFill>
          <a:ln w="9525">
            <a:solidFill>
              <a:srgbClr val="F0E0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22592" y="3657600"/>
            <a:ext cx="4389120" cy="292608"/>
          </a:xfrm>
          <a:prstGeom prst="rect">
            <a:avLst/>
          </a:prstGeom>
          <a:noFill/>
        </p:spPr>
        <p:txBody>
          <a:bodyPr wrap="square" lIns="0" rIns="0" tIns="0" bIns="0">
            <a:spAutoFit/>
          </a:bodyPr>
          <a:lstStyle/>
          <a:p>
            <a:r>
              <a:rPr sz="1600" b="1" i="0">
                <a:solidFill>
                  <a:srgbClr val="1C1526"/>
                </a:solidFill>
                <a:latin typeface="Calibri"/>
              </a:rPr>
              <a:t>Why the obvious answer is wrong</a:t>
            </a:r>
          </a:p>
        </p:txBody>
      </p:sp>
      <p:sp>
        <p:nvSpPr>
          <p:cNvPr id="14" name="TextBox 13"/>
          <p:cNvSpPr txBox="1"/>
          <p:nvPr/>
        </p:nvSpPr>
        <p:spPr>
          <a:xfrm>
            <a:off x="7022592" y="4005072"/>
            <a:ext cx="4370832" cy="1371600"/>
          </a:xfrm>
          <a:prstGeom prst="rect">
            <a:avLst/>
          </a:prstGeom>
          <a:noFill/>
        </p:spPr>
        <p:txBody>
          <a:bodyPr wrap="square" lIns="0" rIns="0" tIns="0" bIns="0">
            <a:spAutoFit/>
          </a:bodyPr>
          <a:lstStyle/>
          <a:p>
            <a:pPr>
              <a:lnSpc>
                <a:spcPts val="1600"/>
              </a:lnSpc>
              <a:spcAft>
                <a:spcPts val="500"/>
              </a:spcAft>
            </a:pPr>
            <a:r>
              <a:rPr sz="1400" b="0" i="0">
                <a:solidFill>
                  <a:srgbClr val="1C1526"/>
                </a:solidFill>
                <a:latin typeface="Calibri"/>
              </a:rPr>
              <a:t>•  “Users are stuck in a habit loop, so show them more.” But they add 15 categories in two years. They are not stuck.</a:t>
            </a:r>
          </a:p>
          <a:p>
            <a:pPr>
              <a:lnSpc>
                <a:spcPts val="1600"/>
              </a:lnSpc>
              <a:spcAft>
                <a:spcPts val="500"/>
              </a:spcAft>
            </a:pPr>
            <a:r>
              <a:rPr sz="1400" b="0" i="0">
                <a:solidFill>
                  <a:srgbClr val="1C1526"/>
                </a:solidFill>
                <a:latin typeface="Calibri"/>
              </a:rPr>
              <a:t>•  The goal is a monthly rate, not a lifetime total. A flattening cumulative curve is a rate approaching zero.</a:t>
            </a:r>
          </a:p>
          <a:p>
            <a:pPr>
              <a:lnSpc>
                <a:spcPts val="1600"/>
              </a:lnSpc>
              <a:spcAft>
                <a:spcPts val="500"/>
              </a:spcAft>
            </a:pPr>
            <a:r>
              <a:rPr sz="1400" b="0" i="0">
                <a:solidFill>
                  <a:srgbClr val="1C1526"/>
                </a:solidFill>
                <a:latin typeface="Calibri"/>
              </a:rPr>
              <a:t>•  So the question is what is different about the categories still left after month 12.</a:t>
            </a:r>
          </a:p>
        </p:txBody>
      </p:sp>
      <p:sp>
        <p:nvSpPr>
          <p:cNvPr id="15" name="TextBox 14"/>
          <p:cNvSpPr txBox="1"/>
          <p:nvPr/>
        </p:nvSpPr>
        <p:spPr>
          <a:xfrm>
            <a:off x="566928" y="6345936"/>
            <a:ext cx="11064240" cy="365760"/>
          </a:xfrm>
          <a:prstGeom prst="rect">
            <a:avLst/>
          </a:prstGeom>
          <a:noFill/>
        </p:spPr>
        <p:txBody>
          <a:bodyPr wrap="square" lIns="0" rIns="0" tIns="0" bIns="0">
            <a:spAutoFit/>
          </a:bodyPr>
          <a:lstStyle/>
          <a:p>
            <a:pPr>
              <a:lnSpc>
                <a:spcPts val="1600"/>
              </a:lnSpc>
            </a:pPr>
            <a:r>
              <a:rPr sz="1400" b="0" i="0">
                <a:solidFill>
                  <a:srgbClr val="605A70"/>
                </a:solidFill>
                <a:latin typeface="Calibri"/>
              </a:rPr>
              <a:t>Three points are disclosed in Zepto's DRHP (2.6 at month 1, 12+ at month 12, 18.0 at month 23). The rates are arithmetic on those figures; the intermediate curve shape is not disclosed and is not assumed.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B2D90"/>
                </a:solidFill>
                <a:latin typeface="Calibri"/>
              </a:rPr>
              <a:t>PART 1 · THE DISCOVERY ENGINE</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1C1526"/>
                </a:solidFill>
                <a:latin typeface="Cambria"/>
              </a:rPr>
              <a:t>A six-stage pipeline that reads 3,000 reviews and cites a checkable source for every claim.</a:t>
            </a:r>
          </a:p>
        </p:txBody>
      </p:sp>
      <p:sp>
        <p:nvSpPr>
          <p:cNvPr id="4" name="Rounded Rectangle 3"/>
          <p:cNvSpPr/>
          <p:nvPr/>
        </p:nvSpPr>
        <p:spPr>
          <a:xfrm>
            <a:off x="566928" y="1810512"/>
            <a:ext cx="1755648" cy="226771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22376" y="1920240"/>
            <a:ext cx="548640" cy="274320"/>
          </a:xfrm>
          <a:prstGeom prst="rect">
            <a:avLst/>
          </a:prstGeom>
          <a:noFill/>
        </p:spPr>
        <p:txBody>
          <a:bodyPr wrap="square" lIns="0" rIns="0" tIns="0" bIns="0">
            <a:spAutoFit/>
          </a:bodyPr>
          <a:lstStyle/>
          <a:p>
            <a:r>
              <a:rPr sz="1400" b="1" i="0">
                <a:solidFill>
                  <a:srgbClr val="5B2D90"/>
                </a:solidFill>
                <a:latin typeface="Calibri"/>
              </a:rPr>
              <a:t>1</a:t>
            </a:r>
          </a:p>
        </p:txBody>
      </p:sp>
      <p:sp>
        <p:nvSpPr>
          <p:cNvPr id="6" name="TextBox 5"/>
          <p:cNvSpPr txBox="1"/>
          <p:nvPr/>
        </p:nvSpPr>
        <p:spPr>
          <a:xfrm>
            <a:off x="722376" y="2194560"/>
            <a:ext cx="1463040" cy="457200"/>
          </a:xfrm>
          <a:prstGeom prst="rect">
            <a:avLst/>
          </a:prstGeom>
          <a:noFill/>
        </p:spPr>
        <p:txBody>
          <a:bodyPr wrap="square" lIns="0" rIns="0" tIns="0" bIns="0">
            <a:spAutoFit/>
          </a:bodyPr>
          <a:lstStyle/>
          <a:p>
            <a:r>
              <a:rPr sz="1500" b="1" i="0">
                <a:solidFill>
                  <a:srgbClr val="1C1526"/>
                </a:solidFill>
                <a:latin typeface="Calibri"/>
              </a:rPr>
              <a:t>Ingest</a:t>
            </a:r>
          </a:p>
        </p:txBody>
      </p:sp>
      <p:sp>
        <p:nvSpPr>
          <p:cNvPr id="7" name="TextBox 6"/>
          <p:cNvSpPr txBox="1"/>
          <p:nvPr/>
        </p:nvSpPr>
        <p:spPr>
          <a:xfrm>
            <a:off x="722376" y="2670048"/>
            <a:ext cx="1463040" cy="1097280"/>
          </a:xfrm>
          <a:prstGeom prst="rect">
            <a:avLst/>
          </a:prstGeom>
          <a:noFill/>
        </p:spPr>
        <p:txBody>
          <a:bodyPr wrap="square" lIns="0" rIns="0" tIns="0" bIns="0">
            <a:spAutoFit/>
          </a:bodyPr>
          <a:lstStyle/>
          <a:p>
            <a:pPr>
              <a:lnSpc>
                <a:spcPts val="1500"/>
              </a:lnSpc>
            </a:pPr>
            <a:r>
              <a:rPr sz="1400" b="0" i="0">
                <a:solidFill>
                  <a:srgbClr val="605A70"/>
                </a:solidFill>
                <a:latin typeface="Calibri"/>
              </a:rPr>
              <a:t>Play Store + App Store, deduped, provenance logged</a:t>
            </a:r>
          </a:p>
        </p:txBody>
      </p:sp>
      <p:sp>
        <p:nvSpPr>
          <p:cNvPr id="8" name="TextBox 7"/>
          <p:cNvSpPr txBox="1"/>
          <p:nvPr/>
        </p:nvSpPr>
        <p:spPr>
          <a:xfrm>
            <a:off x="722376" y="3749039"/>
            <a:ext cx="1463040" cy="274320"/>
          </a:xfrm>
          <a:prstGeom prst="rect">
            <a:avLst/>
          </a:prstGeom>
          <a:noFill/>
        </p:spPr>
        <p:txBody>
          <a:bodyPr wrap="square" lIns="0" rIns="0" tIns="0" bIns="0">
            <a:spAutoFit/>
          </a:bodyPr>
          <a:lstStyle/>
          <a:p>
            <a:r>
              <a:rPr sz="1400" b="0" i="0">
                <a:solidFill>
                  <a:srgbClr val="8C8A97"/>
                </a:solidFill>
                <a:latin typeface="Calibri"/>
              </a:rPr>
              <a:t>python</a:t>
            </a:r>
          </a:p>
        </p:txBody>
      </p:sp>
      <p:sp>
        <p:nvSpPr>
          <p:cNvPr id="9" name="Rounded Rectangle 8"/>
          <p:cNvSpPr/>
          <p:nvPr/>
        </p:nvSpPr>
        <p:spPr>
          <a:xfrm>
            <a:off x="2423160" y="1810512"/>
            <a:ext cx="1755648" cy="226771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578608" y="1920240"/>
            <a:ext cx="548640" cy="274320"/>
          </a:xfrm>
          <a:prstGeom prst="rect">
            <a:avLst/>
          </a:prstGeom>
          <a:noFill/>
        </p:spPr>
        <p:txBody>
          <a:bodyPr wrap="square" lIns="0" rIns="0" tIns="0" bIns="0">
            <a:spAutoFit/>
          </a:bodyPr>
          <a:lstStyle/>
          <a:p>
            <a:r>
              <a:rPr sz="1400" b="1" i="0">
                <a:solidFill>
                  <a:srgbClr val="5B2D90"/>
                </a:solidFill>
                <a:latin typeface="Calibri"/>
              </a:rPr>
              <a:t>2</a:t>
            </a:r>
          </a:p>
        </p:txBody>
      </p:sp>
      <p:sp>
        <p:nvSpPr>
          <p:cNvPr id="11" name="TextBox 10"/>
          <p:cNvSpPr txBox="1"/>
          <p:nvPr/>
        </p:nvSpPr>
        <p:spPr>
          <a:xfrm>
            <a:off x="2578608" y="2194560"/>
            <a:ext cx="1463040" cy="457200"/>
          </a:xfrm>
          <a:prstGeom prst="rect">
            <a:avLst/>
          </a:prstGeom>
          <a:noFill/>
        </p:spPr>
        <p:txBody>
          <a:bodyPr wrap="square" lIns="0" rIns="0" tIns="0" bIns="0">
            <a:spAutoFit/>
          </a:bodyPr>
          <a:lstStyle/>
          <a:p>
            <a:r>
              <a:rPr sz="1500" b="1" i="0">
                <a:solidFill>
                  <a:srgbClr val="1C1526"/>
                </a:solidFill>
                <a:latin typeface="Calibri"/>
              </a:rPr>
              <a:t>Relevance gate</a:t>
            </a:r>
          </a:p>
        </p:txBody>
      </p:sp>
      <p:sp>
        <p:nvSpPr>
          <p:cNvPr id="12" name="TextBox 11"/>
          <p:cNvSpPr txBox="1"/>
          <p:nvPr/>
        </p:nvSpPr>
        <p:spPr>
          <a:xfrm>
            <a:off x="2578608" y="2670048"/>
            <a:ext cx="1463040" cy="1097280"/>
          </a:xfrm>
          <a:prstGeom prst="rect">
            <a:avLst/>
          </a:prstGeom>
          <a:noFill/>
        </p:spPr>
        <p:txBody>
          <a:bodyPr wrap="square" lIns="0" rIns="0" tIns="0" bIns="0">
            <a:spAutoFit/>
          </a:bodyPr>
          <a:lstStyle/>
          <a:p>
            <a:pPr>
              <a:lnSpc>
                <a:spcPts val="1500"/>
              </a:lnSpc>
            </a:pPr>
            <a:r>
              <a:rPr sz="1400" b="0" i="0">
                <a:solidFill>
                  <a:srgbClr val="605A70"/>
                </a:solidFill>
                <a:latin typeface="Calibri"/>
              </a:rPr>
              <a:t>Binary screen tuned for recall. ~9 in 10 reviews are delivery or price</a:t>
            </a:r>
          </a:p>
        </p:txBody>
      </p:sp>
      <p:sp>
        <p:nvSpPr>
          <p:cNvPr id="13" name="TextBox 12"/>
          <p:cNvSpPr txBox="1"/>
          <p:nvPr/>
        </p:nvSpPr>
        <p:spPr>
          <a:xfrm>
            <a:off x="2578608" y="3749039"/>
            <a:ext cx="1463040" cy="274320"/>
          </a:xfrm>
          <a:prstGeom prst="rect">
            <a:avLst/>
          </a:prstGeom>
          <a:noFill/>
        </p:spPr>
        <p:txBody>
          <a:bodyPr wrap="square" lIns="0" rIns="0" tIns="0" bIns="0">
            <a:spAutoFit/>
          </a:bodyPr>
          <a:lstStyle/>
          <a:p>
            <a:r>
              <a:rPr sz="1400" b="0" i="0">
                <a:solidFill>
                  <a:srgbClr val="8C8A97"/>
                </a:solidFill>
                <a:latin typeface="Calibri"/>
              </a:rPr>
              <a:t>haiku</a:t>
            </a:r>
          </a:p>
        </p:txBody>
      </p:sp>
      <p:sp>
        <p:nvSpPr>
          <p:cNvPr id="14" name="Rounded Rectangle 13"/>
          <p:cNvSpPr/>
          <p:nvPr/>
        </p:nvSpPr>
        <p:spPr>
          <a:xfrm>
            <a:off x="4279392" y="1810512"/>
            <a:ext cx="1755648" cy="226771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34840" y="1920240"/>
            <a:ext cx="548640" cy="274320"/>
          </a:xfrm>
          <a:prstGeom prst="rect">
            <a:avLst/>
          </a:prstGeom>
          <a:noFill/>
        </p:spPr>
        <p:txBody>
          <a:bodyPr wrap="square" lIns="0" rIns="0" tIns="0" bIns="0">
            <a:spAutoFit/>
          </a:bodyPr>
          <a:lstStyle/>
          <a:p>
            <a:r>
              <a:rPr sz="1400" b="1" i="0">
                <a:solidFill>
                  <a:srgbClr val="5B2D90"/>
                </a:solidFill>
                <a:latin typeface="Calibri"/>
              </a:rPr>
              <a:t>3</a:t>
            </a:r>
          </a:p>
        </p:txBody>
      </p:sp>
      <p:sp>
        <p:nvSpPr>
          <p:cNvPr id="16" name="TextBox 15"/>
          <p:cNvSpPr txBox="1"/>
          <p:nvPr/>
        </p:nvSpPr>
        <p:spPr>
          <a:xfrm>
            <a:off x="4434840" y="2194560"/>
            <a:ext cx="1463040" cy="457200"/>
          </a:xfrm>
          <a:prstGeom prst="rect">
            <a:avLst/>
          </a:prstGeom>
          <a:noFill/>
        </p:spPr>
        <p:txBody>
          <a:bodyPr wrap="square" lIns="0" rIns="0" tIns="0" bIns="0">
            <a:spAutoFit/>
          </a:bodyPr>
          <a:lstStyle/>
          <a:p>
            <a:r>
              <a:rPr sz="1500" b="1" i="0">
                <a:solidFill>
                  <a:srgbClr val="1C1526"/>
                </a:solidFill>
                <a:latin typeface="Calibri"/>
              </a:rPr>
              <a:t>Extract</a:t>
            </a:r>
          </a:p>
        </p:txBody>
      </p:sp>
      <p:sp>
        <p:nvSpPr>
          <p:cNvPr id="17" name="TextBox 16"/>
          <p:cNvSpPr txBox="1"/>
          <p:nvPr/>
        </p:nvSpPr>
        <p:spPr>
          <a:xfrm>
            <a:off x="4434840" y="2670048"/>
            <a:ext cx="1463040" cy="1097280"/>
          </a:xfrm>
          <a:prstGeom prst="rect">
            <a:avLst/>
          </a:prstGeom>
          <a:noFill/>
        </p:spPr>
        <p:txBody>
          <a:bodyPr wrap="square" lIns="0" rIns="0" tIns="0" bIns="0">
            <a:spAutoFit/>
          </a:bodyPr>
          <a:lstStyle/>
          <a:p>
            <a:pPr>
              <a:lnSpc>
                <a:spcPts val="1500"/>
              </a:lnSpc>
            </a:pPr>
            <a:r>
              <a:rPr sz="1400" b="0" i="0">
                <a:solidFill>
                  <a:srgbClr val="605A70"/>
                </a:solidFill>
                <a:latin typeface="Calibri"/>
              </a:rPr>
              <a:t>JTBD, category, barrier code, competitor, workaround, verbatim</a:t>
            </a:r>
          </a:p>
        </p:txBody>
      </p:sp>
      <p:sp>
        <p:nvSpPr>
          <p:cNvPr id="18" name="TextBox 17"/>
          <p:cNvSpPr txBox="1"/>
          <p:nvPr/>
        </p:nvSpPr>
        <p:spPr>
          <a:xfrm>
            <a:off x="4434840" y="3749039"/>
            <a:ext cx="1463040" cy="274320"/>
          </a:xfrm>
          <a:prstGeom prst="rect">
            <a:avLst/>
          </a:prstGeom>
          <a:noFill/>
        </p:spPr>
        <p:txBody>
          <a:bodyPr wrap="square" lIns="0" rIns="0" tIns="0" bIns="0">
            <a:spAutoFit/>
          </a:bodyPr>
          <a:lstStyle/>
          <a:p>
            <a:r>
              <a:rPr sz="1400" b="0" i="0">
                <a:solidFill>
                  <a:srgbClr val="8C8A97"/>
                </a:solidFill>
                <a:latin typeface="Calibri"/>
              </a:rPr>
              <a:t>sonnet · strict JSON</a:t>
            </a:r>
          </a:p>
        </p:txBody>
      </p:sp>
      <p:sp>
        <p:nvSpPr>
          <p:cNvPr id="19" name="Rounded Rectangle 18"/>
          <p:cNvSpPr/>
          <p:nvPr/>
        </p:nvSpPr>
        <p:spPr>
          <a:xfrm>
            <a:off x="6135624" y="1810512"/>
            <a:ext cx="1755648" cy="226771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1920240"/>
            <a:ext cx="548640" cy="274320"/>
          </a:xfrm>
          <a:prstGeom prst="rect">
            <a:avLst/>
          </a:prstGeom>
          <a:noFill/>
        </p:spPr>
        <p:txBody>
          <a:bodyPr wrap="square" lIns="0" rIns="0" tIns="0" bIns="0">
            <a:spAutoFit/>
          </a:bodyPr>
          <a:lstStyle/>
          <a:p>
            <a:r>
              <a:rPr sz="1400" b="1" i="0">
                <a:solidFill>
                  <a:srgbClr val="5B2D90"/>
                </a:solidFill>
                <a:latin typeface="Calibri"/>
              </a:rPr>
              <a:t>4</a:t>
            </a:r>
          </a:p>
        </p:txBody>
      </p:sp>
      <p:sp>
        <p:nvSpPr>
          <p:cNvPr id="21" name="TextBox 20"/>
          <p:cNvSpPr txBox="1"/>
          <p:nvPr/>
        </p:nvSpPr>
        <p:spPr>
          <a:xfrm>
            <a:off x="6291072" y="2194560"/>
            <a:ext cx="1463040" cy="457200"/>
          </a:xfrm>
          <a:prstGeom prst="rect">
            <a:avLst/>
          </a:prstGeom>
          <a:noFill/>
        </p:spPr>
        <p:txBody>
          <a:bodyPr wrap="square" lIns="0" rIns="0" tIns="0" bIns="0">
            <a:spAutoFit/>
          </a:bodyPr>
          <a:lstStyle/>
          <a:p>
            <a:r>
              <a:rPr sz="1500" b="1" i="0">
                <a:solidFill>
                  <a:srgbClr val="1C1526"/>
                </a:solidFill>
                <a:latin typeface="Calibri"/>
              </a:rPr>
              <a:t>Aggregate</a:t>
            </a:r>
          </a:p>
        </p:txBody>
      </p:sp>
      <p:sp>
        <p:nvSpPr>
          <p:cNvPr id="22" name="TextBox 21"/>
          <p:cNvSpPr txBox="1"/>
          <p:nvPr/>
        </p:nvSpPr>
        <p:spPr>
          <a:xfrm>
            <a:off x="6291072" y="2670048"/>
            <a:ext cx="1463040" cy="1097280"/>
          </a:xfrm>
          <a:prstGeom prst="rect">
            <a:avLst/>
          </a:prstGeom>
          <a:noFill/>
        </p:spPr>
        <p:txBody>
          <a:bodyPr wrap="square" lIns="0" rIns="0" tIns="0" bIns="0">
            <a:spAutoFit/>
          </a:bodyPr>
          <a:lstStyle/>
          <a:p>
            <a:pPr>
              <a:lnSpc>
                <a:spcPts val="1500"/>
              </a:lnSpc>
            </a:pPr>
            <a:r>
              <a:rPr sz="1400" b="0" i="0">
                <a:solidFill>
                  <a:srgbClr val="605A70"/>
                </a:solidFill>
                <a:latin typeface="Calibri"/>
              </a:rPr>
              <a:t>Frequency, severity from star rating, category × barrier</a:t>
            </a:r>
          </a:p>
        </p:txBody>
      </p:sp>
      <p:sp>
        <p:nvSpPr>
          <p:cNvPr id="23" name="TextBox 22"/>
          <p:cNvSpPr txBox="1"/>
          <p:nvPr/>
        </p:nvSpPr>
        <p:spPr>
          <a:xfrm>
            <a:off x="6291072" y="3749039"/>
            <a:ext cx="1463040" cy="274320"/>
          </a:xfrm>
          <a:prstGeom prst="rect">
            <a:avLst/>
          </a:prstGeom>
          <a:noFill/>
        </p:spPr>
        <p:txBody>
          <a:bodyPr wrap="square" lIns="0" rIns="0" tIns="0" bIns="0">
            <a:spAutoFit/>
          </a:bodyPr>
          <a:lstStyle/>
          <a:p>
            <a:r>
              <a:rPr sz="1400" b="0" i="0">
                <a:solidFill>
                  <a:srgbClr val="8C8A97"/>
                </a:solidFill>
                <a:latin typeface="Calibri"/>
              </a:rPr>
              <a:t>python</a:t>
            </a:r>
          </a:p>
        </p:txBody>
      </p:sp>
      <p:sp>
        <p:nvSpPr>
          <p:cNvPr id="24" name="Rounded Rectangle 23"/>
          <p:cNvSpPr/>
          <p:nvPr/>
        </p:nvSpPr>
        <p:spPr>
          <a:xfrm>
            <a:off x="7991855" y="1810512"/>
            <a:ext cx="1755648" cy="226771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47303" y="1920240"/>
            <a:ext cx="548640" cy="274320"/>
          </a:xfrm>
          <a:prstGeom prst="rect">
            <a:avLst/>
          </a:prstGeom>
          <a:noFill/>
        </p:spPr>
        <p:txBody>
          <a:bodyPr wrap="square" lIns="0" rIns="0" tIns="0" bIns="0">
            <a:spAutoFit/>
          </a:bodyPr>
          <a:lstStyle/>
          <a:p>
            <a:r>
              <a:rPr sz="1400" b="1" i="0">
                <a:solidFill>
                  <a:srgbClr val="5B2D90"/>
                </a:solidFill>
                <a:latin typeface="Calibri"/>
              </a:rPr>
              <a:t>5</a:t>
            </a:r>
          </a:p>
        </p:txBody>
      </p:sp>
      <p:sp>
        <p:nvSpPr>
          <p:cNvPr id="26" name="TextBox 25"/>
          <p:cNvSpPr txBox="1"/>
          <p:nvPr/>
        </p:nvSpPr>
        <p:spPr>
          <a:xfrm>
            <a:off x="8147303" y="2194560"/>
            <a:ext cx="1463040" cy="457200"/>
          </a:xfrm>
          <a:prstGeom prst="rect">
            <a:avLst/>
          </a:prstGeom>
          <a:noFill/>
        </p:spPr>
        <p:txBody>
          <a:bodyPr wrap="square" lIns="0" rIns="0" tIns="0" bIns="0">
            <a:spAutoFit/>
          </a:bodyPr>
          <a:lstStyle/>
          <a:p>
            <a:r>
              <a:rPr sz="1500" b="1" i="0">
                <a:solidFill>
                  <a:srgbClr val="1C1526"/>
                </a:solidFill>
                <a:latin typeface="Calibri"/>
              </a:rPr>
              <a:t>Synthesise</a:t>
            </a:r>
          </a:p>
        </p:txBody>
      </p:sp>
      <p:sp>
        <p:nvSpPr>
          <p:cNvPr id="27" name="TextBox 26"/>
          <p:cNvSpPr txBox="1"/>
          <p:nvPr/>
        </p:nvSpPr>
        <p:spPr>
          <a:xfrm>
            <a:off x="8147303" y="2670048"/>
            <a:ext cx="1463040" cy="1097280"/>
          </a:xfrm>
          <a:prstGeom prst="rect">
            <a:avLst/>
          </a:prstGeom>
          <a:noFill/>
        </p:spPr>
        <p:txBody>
          <a:bodyPr wrap="square" lIns="0" rIns="0" tIns="0" bIns="0">
            <a:spAutoFit/>
          </a:bodyPr>
          <a:lstStyle/>
          <a:p>
            <a:pPr>
              <a:lnSpc>
                <a:spcPts val="1500"/>
              </a:lnSpc>
            </a:pPr>
            <a:r>
              <a:rPr sz="1400" b="0" i="0">
                <a:solidFill>
                  <a:srgbClr val="605A70"/>
                </a:solidFill>
                <a:latin typeface="Calibri"/>
              </a:rPr>
              <a:t>Themes ranked by strategic weight, each carrying review IDs</a:t>
            </a:r>
          </a:p>
        </p:txBody>
      </p:sp>
      <p:sp>
        <p:nvSpPr>
          <p:cNvPr id="28" name="TextBox 27"/>
          <p:cNvSpPr txBox="1"/>
          <p:nvPr/>
        </p:nvSpPr>
        <p:spPr>
          <a:xfrm>
            <a:off x="8147303" y="3749039"/>
            <a:ext cx="1463040" cy="274320"/>
          </a:xfrm>
          <a:prstGeom prst="rect">
            <a:avLst/>
          </a:prstGeom>
          <a:noFill/>
        </p:spPr>
        <p:txBody>
          <a:bodyPr wrap="square" lIns="0" rIns="0" tIns="0" bIns="0">
            <a:spAutoFit/>
          </a:bodyPr>
          <a:lstStyle/>
          <a:p>
            <a:r>
              <a:rPr sz="1400" b="0" i="0">
                <a:solidFill>
                  <a:srgbClr val="8C8A97"/>
                </a:solidFill>
                <a:latin typeface="Calibri"/>
              </a:rPr>
              <a:t>sonnet</a:t>
            </a:r>
          </a:p>
        </p:txBody>
      </p:sp>
      <p:sp>
        <p:nvSpPr>
          <p:cNvPr id="29" name="Rounded Rectangle 28"/>
          <p:cNvSpPr/>
          <p:nvPr/>
        </p:nvSpPr>
        <p:spPr>
          <a:xfrm>
            <a:off x="9848087" y="1810512"/>
            <a:ext cx="1755648" cy="2267712"/>
          </a:xfrm>
          <a:prstGeom prst="roundRect">
            <a:avLst>
              <a:gd name="adj" fmla="val 5500"/>
            </a:avLst>
          </a:prstGeom>
          <a:solidFill>
            <a:srgbClr val="3B1F5C"/>
          </a:solidFill>
          <a:ln w="9525">
            <a:solidFill>
              <a:srgbClr val="3B1F5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03535" y="1920240"/>
            <a:ext cx="548640" cy="274320"/>
          </a:xfrm>
          <a:prstGeom prst="rect">
            <a:avLst/>
          </a:prstGeom>
          <a:noFill/>
        </p:spPr>
        <p:txBody>
          <a:bodyPr wrap="square" lIns="0" rIns="0" tIns="0" bIns="0">
            <a:spAutoFit/>
          </a:bodyPr>
          <a:lstStyle/>
          <a:p>
            <a:r>
              <a:rPr sz="1400" b="1" i="0">
                <a:solidFill>
                  <a:srgbClr val="56B4E9"/>
                </a:solidFill>
                <a:latin typeface="Calibri"/>
              </a:rPr>
              <a:t>6</a:t>
            </a:r>
          </a:p>
        </p:txBody>
      </p:sp>
      <p:sp>
        <p:nvSpPr>
          <p:cNvPr id="31" name="TextBox 30"/>
          <p:cNvSpPr txBox="1"/>
          <p:nvPr/>
        </p:nvSpPr>
        <p:spPr>
          <a:xfrm>
            <a:off x="10003535" y="2194560"/>
            <a:ext cx="1463040" cy="457200"/>
          </a:xfrm>
          <a:prstGeom prst="rect">
            <a:avLst/>
          </a:prstGeom>
          <a:noFill/>
        </p:spPr>
        <p:txBody>
          <a:bodyPr wrap="square" lIns="0" rIns="0" tIns="0" bIns="0">
            <a:spAutoFit/>
          </a:bodyPr>
          <a:lstStyle/>
          <a:p>
            <a:r>
              <a:rPr sz="1500" b="1" i="0">
                <a:solidFill>
                  <a:srgbClr val="FFFFFF"/>
                </a:solidFill>
                <a:latin typeface="Calibri"/>
              </a:rPr>
              <a:t>Validate</a:t>
            </a:r>
          </a:p>
        </p:txBody>
      </p:sp>
      <p:sp>
        <p:nvSpPr>
          <p:cNvPr id="32" name="TextBox 31"/>
          <p:cNvSpPr txBox="1"/>
          <p:nvPr/>
        </p:nvSpPr>
        <p:spPr>
          <a:xfrm>
            <a:off x="10003535" y="2670048"/>
            <a:ext cx="1463040" cy="1097280"/>
          </a:xfrm>
          <a:prstGeom prst="rect">
            <a:avLst/>
          </a:prstGeom>
          <a:noFill/>
        </p:spPr>
        <p:txBody>
          <a:bodyPr wrap="square" lIns="0" rIns="0" tIns="0" bIns="0">
            <a:spAutoFit/>
          </a:bodyPr>
          <a:lstStyle/>
          <a:p>
            <a:pPr>
              <a:lnSpc>
                <a:spcPts val="1500"/>
              </a:lnSpc>
            </a:pPr>
            <a:r>
              <a:rPr sz="1400" b="0" i="0">
                <a:solidFill>
                  <a:srgbClr val="CFC3E4"/>
                </a:solidFill>
                <a:latin typeface="Calibri"/>
              </a:rPr>
              <a:t>60-review blind hold-out, hand-labelled. Precision, recall, kappa</a:t>
            </a:r>
          </a:p>
        </p:txBody>
      </p:sp>
      <p:sp>
        <p:nvSpPr>
          <p:cNvPr id="33" name="TextBox 32"/>
          <p:cNvSpPr txBox="1"/>
          <p:nvPr/>
        </p:nvSpPr>
        <p:spPr>
          <a:xfrm>
            <a:off x="10003535" y="3749039"/>
            <a:ext cx="1463040" cy="274320"/>
          </a:xfrm>
          <a:prstGeom prst="rect">
            <a:avLst/>
          </a:prstGeom>
          <a:noFill/>
        </p:spPr>
        <p:txBody>
          <a:bodyPr wrap="square" lIns="0" rIns="0" tIns="0" bIns="0">
            <a:spAutoFit/>
          </a:bodyPr>
          <a:lstStyle/>
          <a:p>
            <a:r>
              <a:rPr sz="1400" b="0" i="0">
                <a:solidFill>
                  <a:srgbClr val="56B4E9"/>
                </a:solidFill>
                <a:latin typeface="Calibri"/>
              </a:rPr>
              <a:t>human</a:t>
            </a:r>
          </a:p>
        </p:txBody>
      </p:sp>
      <p:sp>
        <p:nvSpPr>
          <p:cNvPr id="34" name="Rounded Rectangle 33"/>
          <p:cNvSpPr/>
          <p:nvPr/>
        </p:nvSpPr>
        <p:spPr>
          <a:xfrm>
            <a:off x="566928" y="4352544"/>
            <a:ext cx="3547872" cy="178308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04672" y="4498848"/>
            <a:ext cx="3108960" cy="292608"/>
          </a:xfrm>
          <a:prstGeom prst="rect">
            <a:avLst/>
          </a:prstGeom>
          <a:noFill/>
        </p:spPr>
        <p:txBody>
          <a:bodyPr wrap="square" lIns="0" rIns="0" tIns="0" bIns="0">
            <a:spAutoFit/>
          </a:bodyPr>
          <a:lstStyle/>
          <a:p>
            <a:r>
              <a:rPr sz="1500" b="1" i="0">
                <a:solidFill>
                  <a:srgbClr val="5B2D90"/>
                </a:solidFill>
                <a:latin typeface="Calibri"/>
              </a:rPr>
              <a:t>Why a separate cheap gate</a:t>
            </a:r>
          </a:p>
        </p:txBody>
      </p:sp>
      <p:sp>
        <p:nvSpPr>
          <p:cNvPr id="36" name="TextBox 35"/>
          <p:cNvSpPr txBox="1"/>
          <p:nvPr/>
        </p:nvSpPr>
        <p:spPr>
          <a:xfrm>
            <a:off x="804672" y="4828032"/>
            <a:ext cx="3090672" cy="1234440"/>
          </a:xfrm>
          <a:prstGeom prst="rect">
            <a:avLst/>
          </a:prstGeom>
          <a:noFill/>
        </p:spPr>
        <p:txBody>
          <a:bodyPr wrap="square" lIns="0" rIns="0" tIns="0" bIns="0">
            <a:spAutoFit/>
          </a:bodyPr>
          <a:lstStyle/>
          <a:p>
            <a:pPr>
              <a:lnSpc>
                <a:spcPts val="1500"/>
              </a:lnSpc>
            </a:pPr>
            <a:r>
              <a:rPr sz="1400" b="0" i="0">
                <a:solidFill>
                  <a:srgbClr val="1C1526"/>
                </a:solidFill>
                <a:latin typeface="Calibri"/>
              </a:rPr>
              <a:t>Cuts extraction spend by ~90% at almost no recall cost, and makes the funnel legible. It fails open: on genuine uncertainty it returns YES, because a false positive costs one API call and a false negative loses the signal forever.</a:t>
            </a:r>
          </a:p>
        </p:txBody>
      </p:sp>
      <p:sp>
        <p:nvSpPr>
          <p:cNvPr id="37" name="Rounded Rectangle 36"/>
          <p:cNvSpPr/>
          <p:nvPr/>
        </p:nvSpPr>
        <p:spPr>
          <a:xfrm>
            <a:off x="4279392" y="4352544"/>
            <a:ext cx="3547872" cy="178308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517136" y="4498848"/>
            <a:ext cx="3108960" cy="292608"/>
          </a:xfrm>
          <a:prstGeom prst="rect">
            <a:avLst/>
          </a:prstGeom>
          <a:noFill/>
        </p:spPr>
        <p:txBody>
          <a:bodyPr wrap="square" lIns="0" rIns="0" tIns="0" bIns="0">
            <a:spAutoFit/>
          </a:bodyPr>
          <a:lstStyle/>
          <a:p>
            <a:r>
              <a:rPr sz="1500" b="1" i="0">
                <a:solidFill>
                  <a:srgbClr val="5B2D90"/>
                </a:solidFill>
                <a:latin typeface="Calibri"/>
              </a:rPr>
              <a:t>Why a closed taxonomy</a:t>
            </a:r>
          </a:p>
        </p:txBody>
      </p:sp>
      <p:sp>
        <p:nvSpPr>
          <p:cNvPr id="39" name="TextBox 38"/>
          <p:cNvSpPr txBox="1"/>
          <p:nvPr/>
        </p:nvSpPr>
        <p:spPr>
          <a:xfrm>
            <a:off x="4517136" y="4828032"/>
            <a:ext cx="3090672" cy="1234440"/>
          </a:xfrm>
          <a:prstGeom prst="rect">
            <a:avLst/>
          </a:prstGeom>
          <a:noFill/>
        </p:spPr>
        <p:txBody>
          <a:bodyPr wrap="square" lIns="0" rIns="0" tIns="0" bIns="0">
            <a:spAutoFit/>
          </a:bodyPr>
          <a:lstStyle/>
          <a:p>
            <a:pPr>
              <a:lnSpc>
                <a:spcPts val="1500"/>
              </a:lnSpc>
            </a:pPr>
            <a:r>
              <a:rPr sz="1400" b="0" i="0">
                <a:solidFill>
                  <a:srgbClr val="1C1526"/>
                </a:solidFill>
                <a:latin typeface="Calibri"/>
              </a:rPr>
              <a:t>Seven fixed barrier codes, not open coding. A closed set is countable, comparable, and can be scored against a human. Open coding produces labels you cannot measure.</a:t>
            </a:r>
          </a:p>
        </p:txBody>
      </p:sp>
      <p:sp>
        <p:nvSpPr>
          <p:cNvPr id="40" name="Rounded Rectangle 39"/>
          <p:cNvSpPr/>
          <p:nvPr/>
        </p:nvSpPr>
        <p:spPr>
          <a:xfrm>
            <a:off x="7991855" y="4352544"/>
            <a:ext cx="3547872" cy="178308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229599" y="4498848"/>
            <a:ext cx="3108960" cy="292608"/>
          </a:xfrm>
          <a:prstGeom prst="rect">
            <a:avLst/>
          </a:prstGeom>
          <a:noFill/>
        </p:spPr>
        <p:txBody>
          <a:bodyPr wrap="square" lIns="0" rIns="0" tIns="0" bIns="0">
            <a:spAutoFit/>
          </a:bodyPr>
          <a:lstStyle/>
          <a:p>
            <a:r>
              <a:rPr sz="1500" b="1" i="0">
                <a:solidFill>
                  <a:srgbClr val="5B2D90"/>
                </a:solidFill>
                <a:latin typeface="Calibri"/>
              </a:rPr>
              <a:t>Why every row carries a verbatim</a:t>
            </a:r>
          </a:p>
        </p:txBody>
      </p:sp>
      <p:sp>
        <p:nvSpPr>
          <p:cNvPr id="42" name="TextBox 41"/>
          <p:cNvSpPr txBox="1"/>
          <p:nvPr/>
        </p:nvSpPr>
        <p:spPr>
          <a:xfrm>
            <a:off x="8229599" y="4828032"/>
            <a:ext cx="3090672" cy="1234440"/>
          </a:xfrm>
          <a:prstGeom prst="rect">
            <a:avLst/>
          </a:prstGeom>
          <a:noFill/>
        </p:spPr>
        <p:txBody>
          <a:bodyPr wrap="square" lIns="0" rIns="0" tIns="0" bIns="0">
            <a:spAutoFit/>
          </a:bodyPr>
          <a:lstStyle/>
          <a:p>
            <a:pPr>
              <a:lnSpc>
                <a:spcPts val="1500"/>
              </a:lnSpc>
            </a:pPr>
            <a:r>
              <a:rPr sz="1400" b="0" i="0">
                <a:solidFill>
                  <a:srgbClr val="1C1526"/>
                </a:solidFill>
                <a:latin typeface="Calibri"/>
              </a:rPr>
              <a:t>The quote must appear character-for-character in the source or the row is dropped automatically. That makes hallucination detectable instead of invisible.</a:t>
            </a:r>
          </a:p>
        </p:txBody>
      </p:sp>
      <p:sp>
        <p:nvSpPr>
          <p:cNvPr id="43" name="TextBox 42"/>
          <p:cNvSpPr txBox="1"/>
          <p:nvPr/>
        </p:nvSpPr>
        <p:spPr>
          <a:xfrm>
            <a:off x="566928" y="6345936"/>
            <a:ext cx="11064240" cy="365760"/>
          </a:xfrm>
          <a:prstGeom prst="rect">
            <a:avLst/>
          </a:prstGeom>
          <a:noFill/>
        </p:spPr>
        <p:txBody>
          <a:bodyPr wrap="square" lIns="0" rIns="0" tIns="0" bIns="0">
            <a:spAutoFit/>
          </a:bodyPr>
          <a:lstStyle/>
          <a:p>
            <a:pPr>
              <a:lnSpc>
                <a:spcPts val="1600"/>
              </a:lnSpc>
            </a:pPr>
            <a:r>
              <a:rPr sz="1400" b="0" i="0">
                <a:solidFill>
                  <a:srgbClr val="605A70"/>
                </a:solidFill>
                <a:latin typeface="Calibri"/>
              </a:rPr>
              <a:t>A live, runnable version of every stage — including a classifier you can paste any review into — is linked on the final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B2D90"/>
                </a:solidFill>
                <a:latin typeface="Calibri"/>
              </a:rPr>
              <a:t>PART 1 · WHAT THE ENGINE FOUND</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1C1526"/>
                </a:solidFill>
                <a:latin typeface="Cambria"/>
              </a:rPr>
              <a:t>3,000 reviews cannot tell you why someone didn't buy. Establishing that is the finding.</a:t>
            </a:r>
          </a:p>
        </p:txBody>
      </p:sp>
      <p:sp>
        <p:nvSpPr>
          <p:cNvPr id="4" name="Rounded Rectangle 3"/>
          <p:cNvSpPr/>
          <p:nvPr/>
        </p:nvSpPr>
        <p:spPr>
          <a:xfrm>
            <a:off x="566928" y="1719072"/>
            <a:ext cx="2651760" cy="109728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810512"/>
            <a:ext cx="2194560" cy="457200"/>
          </a:xfrm>
          <a:prstGeom prst="rect">
            <a:avLst/>
          </a:prstGeom>
          <a:noFill/>
        </p:spPr>
        <p:txBody>
          <a:bodyPr wrap="square" lIns="0" rIns="0" tIns="0" bIns="0">
            <a:spAutoFit/>
          </a:bodyPr>
          <a:lstStyle/>
          <a:p>
            <a:r>
              <a:rPr sz="2400" b="1" i="0">
                <a:solidFill>
                  <a:srgbClr val="5B2D90"/>
                </a:solidFill>
                <a:latin typeface="Cambria"/>
              </a:rPr>
              <a:t>3,000</a:t>
            </a:r>
          </a:p>
        </p:txBody>
      </p:sp>
      <p:sp>
        <p:nvSpPr>
          <p:cNvPr id="6" name="TextBox 5"/>
          <p:cNvSpPr txBox="1"/>
          <p:nvPr/>
        </p:nvSpPr>
        <p:spPr>
          <a:xfrm>
            <a:off x="786384" y="2249424"/>
            <a:ext cx="2304288" cy="274320"/>
          </a:xfrm>
          <a:prstGeom prst="rect">
            <a:avLst/>
          </a:prstGeom>
          <a:noFill/>
        </p:spPr>
        <p:txBody>
          <a:bodyPr wrap="square" lIns="0" rIns="0" tIns="0" bIns="0">
            <a:spAutoFit/>
          </a:bodyPr>
          <a:lstStyle/>
          <a:p>
            <a:r>
              <a:rPr sz="1400" b="1" i="0">
                <a:solidFill>
                  <a:srgbClr val="1C1526"/>
                </a:solidFill>
                <a:latin typeface="Calibri"/>
              </a:rPr>
              <a:t>reviews ingested</a:t>
            </a:r>
          </a:p>
        </p:txBody>
      </p:sp>
      <p:sp>
        <p:nvSpPr>
          <p:cNvPr id="7" name="TextBox 6"/>
          <p:cNvSpPr txBox="1"/>
          <p:nvPr/>
        </p:nvSpPr>
        <p:spPr>
          <a:xfrm>
            <a:off x="786384" y="2505456"/>
            <a:ext cx="2304288" cy="274320"/>
          </a:xfrm>
          <a:prstGeom prst="rect">
            <a:avLst/>
          </a:prstGeom>
          <a:noFill/>
        </p:spPr>
        <p:txBody>
          <a:bodyPr wrap="square" lIns="0" rIns="0" tIns="0" bIns="0">
            <a:spAutoFit/>
          </a:bodyPr>
          <a:lstStyle/>
          <a:p>
            <a:r>
              <a:rPr sz="1400" b="0" i="0">
                <a:solidFill>
                  <a:srgbClr val="605A70"/>
                </a:solidFill>
                <a:latin typeface="Calibri"/>
              </a:rPr>
              <a:t>Google Play, 20 Jul – 1 Aug</a:t>
            </a:r>
          </a:p>
        </p:txBody>
      </p:sp>
      <p:sp>
        <p:nvSpPr>
          <p:cNvPr id="8" name="Rounded Rectangle 7"/>
          <p:cNvSpPr/>
          <p:nvPr/>
        </p:nvSpPr>
        <p:spPr>
          <a:xfrm>
            <a:off x="3364992" y="1719072"/>
            <a:ext cx="2651760" cy="109728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84448" y="1810512"/>
            <a:ext cx="2194560" cy="457200"/>
          </a:xfrm>
          <a:prstGeom prst="rect">
            <a:avLst/>
          </a:prstGeom>
          <a:noFill/>
        </p:spPr>
        <p:txBody>
          <a:bodyPr wrap="square" lIns="0" rIns="0" tIns="0" bIns="0">
            <a:spAutoFit/>
          </a:bodyPr>
          <a:lstStyle/>
          <a:p>
            <a:r>
              <a:rPr sz="2400" b="1" i="0">
                <a:solidFill>
                  <a:srgbClr val="5B2D90"/>
                </a:solidFill>
                <a:latin typeface="Cambria"/>
              </a:rPr>
              <a:t>628</a:t>
            </a:r>
          </a:p>
        </p:txBody>
      </p:sp>
      <p:sp>
        <p:nvSpPr>
          <p:cNvPr id="10" name="TextBox 9"/>
          <p:cNvSpPr txBox="1"/>
          <p:nvPr/>
        </p:nvSpPr>
        <p:spPr>
          <a:xfrm>
            <a:off x="3584448" y="2249424"/>
            <a:ext cx="2304288" cy="274320"/>
          </a:xfrm>
          <a:prstGeom prst="rect">
            <a:avLst/>
          </a:prstGeom>
          <a:noFill/>
        </p:spPr>
        <p:txBody>
          <a:bodyPr wrap="square" lIns="0" rIns="0" tIns="0" bIns="0">
            <a:spAutoFit/>
          </a:bodyPr>
          <a:lstStyle/>
          <a:p>
            <a:r>
              <a:rPr sz="1400" b="1" i="0">
                <a:solidFill>
                  <a:srgbClr val="1C1526"/>
                </a:solidFill>
                <a:latin typeface="Calibri"/>
              </a:rPr>
              <a:t>passed the relevance gate</a:t>
            </a:r>
          </a:p>
        </p:txBody>
      </p:sp>
      <p:sp>
        <p:nvSpPr>
          <p:cNvPr id="11" name="TextBox 10"/>
          <p:cNvSpPr txBox="1"/>
          <p:nvPr/>
        </p:nvSpPr>
        <p:spPr>
          <a:xfrm>
            <a:off x="3584448" y="2505456"/>
            <a:ext cx="2304288" cy="274320"/>
          </a:xfrm>
          <a:prstGeom prst="rect">
            <a:avLst/>
          </a:prstGeom>
          <a:noFill/>
        </p:spPr>
        <p:txBody>
          <a:bodyPr wrap="square" lIns="0" rIns="0" tIns="0" bIns="0">
            <a:spAutoFit/>
          </a:bodyPr>
          <a:lstStyle/>
          <a:p>
            <a:r>
              <a:rPr sz="1400" b="0" i="0">
                <a:solidFill>
                  <a:srgbClr val="605A70"/>
                </a:solidFill>
                <a:latin typeface="Calibri"/>
              </a:rPr>
              <a:t>21%; rest are delivery and price</a:t>
            </a:r>
          </a:p>
        </p:txBody>
      </p:sp>
      <p:sp>
        <p:nvSpPr>
          <p:cNvPr id="12" name="Rounded Rectangle 11"/>
          <p:cNvSpPr/>
          <p:nvPr/>
        </p:nvSpPr>
        <p:spPr>
          <a:xfrm>
            <a:off x="6163056" y="1719072"/>
            <a:ext cx="2651760" cy="109728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2512" y="1810512"/>
            <a:ext cx="2194560" cy="457200"/>
          </a:xfrm>
          <a:prstGeom prst="rect">
            <a:avLst/>
          </a:prstGeom>
          <a:noFill/>
        </p:spPr>
        <p:txBody>
          <a:bodyPr wrap="square" lIns="0" rIns="0" tIns="0" bIns="0">
            <a:spAutoFit/>
          </a:bodyPr>
          <a:lstStyle/>
          <a:p>
            <a:r>
              <a:rPr sz="2400" b="1" i="0">
                <a:solidFill>
                  <a:srgbClr val="5B2D90"/>
                </a:solidFill>
                <a:latin typeface="Cambria"/>
              </a:rPr>
              <a:t>107</a:t>
            </a:r>
          </a:p>
        </p:txBody>
      </p:sp>
      <p:sp>
        <p:nvSpPr>
          <p:cNvPr id="14" name="TextBox 13"/>
          <p:cNvSpPr txBox="1"/>
          <p:nvPr/>
        </p:nvSpPr>
        <p:spPr>
          <a:xfrm>
            <a:off x="6382512" y="2249424"/>
            <a:ext cx="2304288" cy="274320"/>
          </a:xfrm>
          <a:prstGeom prst="rect">
            <a:avLst/>
          </a:prstGeom>
          <a:noFill/>
        </p:spPr>
        <p:txBody>
          <a:bodyPr wrap="square" lIns="0" rIns="0" tIns="0" bIns="0">
            <a:spAutoFit/>
          </a:bodyPr>
          <a:lstStyle/>
          <a:p>
            <a:r>
              <a:rPr sz="1400" b="1" i="0">
                <a:solidFill>
                  <a:srgbClr val="1C1526"/>
                </a:solidFill>
                <a:latin typeface="Calibri"/>
              </a:rPr>
              <a:t>carry a discovery barrier</a:t>
            </a:r>
          </a:p>
        </p:txBody>
      </p:sp>
      <p:sp>
        <p:nvSpPr>
          <p:cNvPr id="15" name="TextBox 14"/>
          <p:cNvSpPr txBox="1"/>
          <p:nvPr/>
        </p:nvSpPr>
        <p:spPr>
          <a:xfrm>
            <a:off x="6382512" y="2505456"/>
            <a:ext cx="2304288" cy="274320"/>
          </a:xfrm>
          <a:prstGeom prst="rect">
            <a:avLst/>
          </a:prstGeom>
          <a:noFill/>
        </p:spPr>
        <p:txBody>
          <a:bodyPr wrap="square" lIns="0" rIns="0" tIns="0" bIns="0">
            <a:spAutoFit/>
          </a:bodyPr>
          <a:lstStyle/>
          <a:p>
            <a:r>
              <a:rPr sz="1400" b="0" i="0">
                <a:solidFill>
                  <a:srgbClr val="605A70"/>
                </a:solidFill>
                <a:latin typeface="Calibri"/>
              </a:rPr>
              <a:t>3.6%, and validation says overstated</a:t>
            </a:r>
          </a:p>
        </p:txBody>
      </p:sp>
      <p:sp>
        <p:nvSpPr>
          <p:cNvPr id="16" name="Rounded Rectangle 15"/>
          <p:cNvSpPr/>
          <p:nvPr/>
        </p:nvSpPr>
        <p:spPr>
          <a:xfrm>
            <a:off x="8961119" y="1719072"/>
            <a:ext cx="2651760" cy="1097280"/>
          </a:xfrm>
          <a:prstGeom prst="roundRect">
            <a:avLst>
              <a:gd name="adj" fmla="val 5500"/>
            </a:avLst>
          </a:prstGeom>
          <a:solidFill>
            <a:srgbClr val="FDF6E8"/>
          </a:solidFill>
          <a:ln w="9525">
            <a:solidFill>
              <a:srgbClr val="F0E0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80576" y="1810512"/>
            <a:ext cx="2194560" cy="457200"/>
          </a:xfrm>
          <a:prstGeom prst="rect">
            <a:avLst/>
          </a:prstGeom>
          <a:noFill/>
        </p:spPr>
        <p:txBody>
          <a:bodyPr wrap="square" lIns="0" rIns="0" tIns="0" bIns="0">
            <a:spAutoFit/>
          </a:bodyPr>
          <a:lstStyle/>
          <a:p>
            <a:r>
              <a:rPr sz="2400" b="1" i="0">
                <a:solidFill>
                  <a:srgbClr val="E69F00"/>
                </a:solidFill>
                <a:latin typeface="Cambria"/>
              </a:rPr>
              <a:t>0</a:t>
            </a:r>
          </a:p>
        </p:txBody>
      </p:sp>
      <p:sp>
        <p:nvSpPr>
          <p:cNvPr id="18" name="TextBox 17"/>
          <p:cNvSpPr txBox="1"/>
          <p:nvPr/>
        </p:nvSpPr>
        <p:spPr>
          <a:xfrm>
            <a:off x="9180576" y="2249424"/>
            <a:ext cx="2304288" cy="274320"/>
          </a:xfrm>
          <a:prstGeom prst="rect">
            <a:avLst/>
          </a:prstGeom>
          <a:noFill/>
        </p:spPr>
        <p:txBody>
          <a:bodyPr wrap="square" lIns="0" rIns="0" tIns="0" bIns="0">
            <a:spAutoFit/>
          </a:bodyPr>
          <a:lstStyle/>
          <a:p>
            <a:r>
              <a:rPr sz="1400" b="1" i="0">
                <a:solidFill>
                  <a:srgbClr val="1C1526"/>
                </a:solidFill>
                <a:latin typeface="Calibri"/>
              </a:rPr>
              <a:t>mention a fit problem</a:t>
            </a:r>
          </a:p>
        </p:txBody>
      </p:sp>
      <p:sp>
        <p:nvSpPr>
          <p:cNvPr id="19" name="TextBox 18"/>
          <p:cNvSpPr txBox="1"/>
          <p:nvPr/>
        </p:nvSpPr>
        <p:spPr>
          <a:xfrm>
            <a:off x="9180576" y="2505456"/>
            <a:ext cx="2304288" cy="274320"/>
          </a:xfrm>
          <a:prstGeom prst="rect">
            <a:avLst/>
          </a:prstGeom>
          <a:noFill/>
        </p:spPr>
        <p:txBody>
          <a:bodyPr wrap="square" lIns="0" rIns="0" tIns="0" bIns="0">
            <a:spAutoFit/>
          </a:bodyPr>
          <a:lstStyle/>
          <a:p>
            <a:r>
              <a:rPr sz="1400" b="0" i="0">
                <a:solidFill>
                  <a:srgbClr val="605A70"/>
                </a:solidFill>
                <a:latin typeface="Calibri"/>
              </a:rPr>
              <a:t>in 628 relevant reviews</a:t>
            </a:r>
          </a:p>
        </p:txBody>
      </p:sp>
      <p:graphicFrame>
        <p:nvGraphicFramePr>
          <p:cNvPr id="20" name="Chart 19"/>
          <p:cNvGraphicFramePr>
            <a:graphicFrameLocks noGrp="1"/>
          </p:cNvGraphicFramePr>
          <p:nvPr/>
        </p:nvGraphicFramePr>
        <p:xfrm>
          <a:off x="566928" y="2926080"/>
          <a:ext cx="5760720" cy="2834640"/>
        </p:xfrm>
        <a:graphic>
          <a:graphicData uri="http://schemas.openxmlformats.org/drawingml/2006/chart">
            <c:chart xmlns:c="http://schemas.openxmlformats.org/drawingml/2006/chart" r:id="rId2"/>
          </a:graphicData>
        </a:graphic>
      </p:graphicFrame>
      <p:sp>
        <p:nvSpPr>
          <p:cNvPr id="21" name="Rectangle 20"/>
          <p:cNvSpPr/>
          <p:nvPr/>
        </p:nvSpPr>
        <p:spPr>
          <a:xfrm>
            <a:off x="603504" y="5797296"/>
            <a:ext cx="155448" cy="155448"/>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68680" y="5742432"/>
            <a:ext cx="5120640" cy="274320"/>
          </a:xfrm>
          <a:prstGeom prst="rect">
            <a:avLst/>
          </a:prstGeom>
          <a:noFill/>
        </p:spPr>
        <p:txBody>
          <a:bodyPr wrap="square" lIns="0" rIns="0" tIns="0" bIns="0">
            <a:spAutoFit/>
          </a:bodyPr>
          <a:lstStyle/>
          <a:p>
            <a:r>
              <a:rPr sz="1400" b="0" i="0">
                <a:solidFill>
                  <a:srgbClr val="1C1526"/>
                </a:solidFill>
                <a:latin typeface="Calibri"/>
              </a:rPr>
              <a:t>Operational: something went wrong with an order placed</a:t>
            </a:r>
          </a:p>
        </p:txBody>
      </p:sp>
      <p:sp>
        <p:nvSpPr>
          <p:cNvPr id="23" name="Rounded Rectangle 22"/>
          <p:cNvSpPr/>
          <p:nvPr/>
        </p:nvSpPr>
        <p:spPr>
          <a:xfrm>
            <a:off x="6537960" y="2926080"/>
            <a:ext cx="5074920" cy="1572768"/>
          </a:xfrm>
          <a:prstGeom prst="roundRect">
            <a:avLst>
              <a:gd name="adj" fmla="val 5500"/>
            </a:avLst>
          </a:prstGeom>
          <a:solidFill>
            <a:srgbClr val="FDF6E8"/>
          </a:solidFill>
          <a:ln w="9525">
            <a:solidFill>
              <a:srgbClr val="F0E0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784848" y="3054096"/>
            <a:ext cx="4572000" cy="274320"/>
          </a:xfrm>
          <a:prstGeom prst="rect">
            <a:avLst/>
          </a:prstGeom>
          <a:noFill/>
        </p:spPr>
        <p:txBody>
          <a:bodyPr wrap="square" lIns="0" rIns="0" tIns="0" bIns="0">
            <a:spAutoFit/>
          </a:bodyPr>
          <a:lstStyle/>
          <a:p>
            <a:r>
              <a:rPr sz="1600" b="1" i="0">
                <a:solidFill>
                  <a:srgbClr val="1C1526"/>
                </a:solidFill>
                <a:latin typeface="Calibri"/>
              </a:rPr>
              <a:t>What looked like trust isn't</a:t>
            </a:r>
          </a:p>
        </p:txBody>
      </p:sp>
      <p:sp>
        <p:nvSpPr>
          <p:cNvPr id="25" name="TextBox 24"/>
          <p:cNvSpPr txBox="1"/>
          <p:nvPr/>
        </p:nvSpPr>
        <p:spPr>
          <a:xfrm>
            <a:off x="6784848" y="3364992"/>
            <a:ext cx="4590288" cy="1005840"/>
          </a:xfrm>
          <a:prstGeom prst="rect">
            <a:avLst/>
          </a:prstGeom>
          <a:noFill/>
        </p:spPr>
        <p:txBody>
          <a:bodyPr wrap="square" lIns="0" rIns="0" tIns="0" bIns="0">
            <a:spAutoFit/>
          </a:bodyPr>
          <a:lstStyle/>
          <a:p>
            <a:pPr>
              <a:lnSpc>
                <a:spcPts val="1600"/>
              </a:lnSpc>
            </a:pPr>
            <a:r>
              <a:rPr sz="1400" b="0" i="0">
                <a:solidFill>
                  <a:srgbClr val="1C1526"/>
                </a:solidFill>
                <a:latin typeface="Calibri"/>
              </a:rPr>
              <a:t>The terms driving that bar are “expired product” ×17 and “expiry date” ×13. “No reviews” barely registers. This is a fulfilment complaint about goods received, not hesitation about goods not bought.</a:t>
            </a:r>
          </a:p>
        </p:txBody>
      </p:sp>
      <p:sp>
        <p:nvSpPr>
          <p:cNvPr id="26" name="Rounded Rectangle 25"/>
          <p:cNvSpPr/>
          <p:nvPr/>
        </p:nvSpPr>
        <p:spPr>
          <a:xfrm>
            <a:off x="6537960" y="4626864"/>
            <a:ext cx="5074920" cy="146304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784848" y="4754880"/>
            <a:ext cx="4572000" cy="274320"/>
          </a:xfrm>
          <a:prstGeom prst="rect">
            <a:avLst/>
          </a:prstGeom>
          <a:noFill/>
        </p:spPr>
        <p:txBody>
          <a:bodyPr wrap="square" lIns="0" rIns="0" tIns="0" bIns="0">
            <a:spAutoFit/>
          </a:bodyPr>
          <a:lstStyle/>
          <a:p>
            <a:r>
              <a:rPr sz="1600" b="1" i="0">
                <a:solidFill>
                  <a:srgbClr val="5B2D90"/>
                </a:solidFill>
                <a:latin typeface="Calibri"/>
              </a:rPr>
              <a:t>Why the silence is structural</a:t>
            </a:r>
          </a:p>
        </p:txBody>
      </p:sp>
      <p:sp>
        <p:nvSpPr>
          <p:cNvPr id="28" name="TextBox 27"/>
          <p:cNvSpPr txBox="1"/>
          <p:nvPr/>
        </p:nvSpPr>
        <p:spPr>
          <a:xfrm>
            <a:off x="6784848" y="5065776"/>
            <a:ext cx="4590288" cy="914400"/>
          </a:xfrm>
          <a:prstGeom prst="rect">
            <a:avLst/>
          </a:prstGeom>
          <a:noFill/>
        </p:spPr>
        <p:txBody>
          <a:bodyPr wrap="square" lIns="0" rIns="0" tIns="0" bIns="0">
            <a:spAutoFit/>
          </a:bodyPr>
          <a:lstStyle/>
          <a:p>
            <a:pPr>
              <a:lnSpc>
                <a:spcPts val="1600"/>
              </a:lnSpc>
            </a:pPr>
            <a:r>
              <a:rPr sz="1400" b="0" i="0">
                <a:solidFill>
                  <a:srgbClr val="1C1526"/>
                </a:solidFill>
                <a:latin typeface="Calibri"/>
              </a:rPr>
              <a:t>Reviews are written about orders that happened. A category never entered produces no order, no complaint and no review. You cannot observe a non-purchase in a record of purchases.</a:t>
            </a:r>
          </a:p>
        </p:txBody>
      </p:sp>
      <p:sp>
        <p:nvSpPr>
          <p:cNvPr id="29" name="TextBox 28"/>
          <p:cNvSpPr txBox="1"/>
          <p:nvPr/>
        </p:nvSpPr>
        <p:spPr>
          <a:xfrm>
            <a:off x="566928" y="6345936"/>
            <a:ext cx="11064240" cy="365760"/>
          </a:xfrm>
          <a:prstGeom prst="rect">
            <a:avLst/>
          </a:prstGeom>
          <a:noFill/>
        </p:spPr>
        <p:txBody>
          <a:bodyPr wrap="square" lIns="0" rIns="0" tIns="0" bIns="0">
            <a:spAutoFit/>
          </a:bodyPr>
          <a:lstStyle/>
          <a:p>
            <a:pPr>
              <a:lnSpc>
                <a:spcPts val="1600"/>
              </a:lnSpc>
            </a:pPr>
            <a:r>
              <a:rPr sz="1400" b="0" i="0">
                <a:solidFill>
                  <a:srgbClr val="605A70"/>
                </a:solidFill>
                <a:latin typeface="Calibri"/>
              </a:rPr>
              <a:t>Zero fit mentions. Four competitor mentions in 628 reviews, none of them Nykaa. Absence at this scale is evidence about the source, not about users.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B2D90"/>
                </a:solidFill>
                <a:latin typeface="Calibri"/>
              </a:rPr>
              <a:t>PART 1 · DOES ANY OF THIS HOLD UP</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1C1526"/>
                </a:solidFill>
                <a:latin typeface="Cambria"/>
              </a:rPr>
              <a:t>My first run said trust was 71% of all barriers. It was measuring the word “review”.</a:t>
            </a:r>
          </a:p>
        </p:txBody>
      </p:sp>
      <p:sp>
        <p:nvSpPr>
          <p:cNvPr id="4" name="Rounded Rectangle 3"/>
          <p:cNvSpPr/>
          <p:nvPr/>
        </p:nvSpPr>
        <p:spPr>
          <a:xfrm>
            <a:off x="566928" y="1755648"/>
            <a:ext cx="5532120" cy="420624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883664"/>
            <a:ext cx="4937760" cy="292608"/>
          </a:xfrm>
          <a:prstGeom prst="rect">
            <a:avLst/>
          </a:prstGeom>
          <a:noFill/>
        </p:spPr>
        <p:txBody>
          <a:bodyPr wrap="square" lIns="0" rIns="0" tIns="0" bIns="0">
            <a:spAutoFit/>
          </a:bodyPr>
          <a:lstStyle/>
          <a:p>
            <a:r>
              <a:rPr sz="1700" b="1" i="0">
                <a:solidFill>
                  <a:srgbClr val="5B2D90"/>
                </a:solidFill>
                <a:latin typeface="Calibri"/>
              </a:rPr>
              <a:t>The bug my own audit caught</a:t>
            </a:r>
          </a:p>
        </p:txBody>
      </p:sp>
      <p:sp>
        <p:nvSpPr>
          <p:cNvPr id="6" name="TextBox 5"/>
          <p:cNvSpPr txBox="1"/>
          <p:nvPr/>
        </p:nvSpPr>
        <p:spPr>
          <a:xfrm>
            <a:off x="822960" y="2231136"/>
            <a:ext cx="4937760" cy="274320"/>
          </a:xfrm>
          <a:prstGeom prst="rect">
            <a:avLst/>
          </a:prstGeom>
          <a:noFill/>
        </p:spPr>
        <p:txBody>
          <a:bodyPr wrap="square" lIns="0" rIns="0" tIns="0" bIns="0">
            <a:spAutoFit/>
          </a:bodyPr>
          <a:lstStyle/>
          <a:p>
            <a:r>
              <a:rPr sz="1500" b="1" i="0">
                <a:solidFill>
                  <a:srgbClr val="1C1526"/>
                </a:solidFill>
                <a:latin typeface="Calibri"/>
              </a:rPr>
              <a:t>Run 1: 71% trust</a:t>
            </a:r>
          </a:p>
        </p:txBody>
      </p:sp>
      <p:sp>
        <p:nvSpPr>
          <p:cNvPr id="7" name="TextBox 6"/>
          <p:cNvSpPr txBox="1"/>
          <p:nvPr/>
        </p:nvSpPr>
        <p:spPr>
          <a:xfrm>
            <a:off x="822960" y="2496312"/>
            <a:ext cx="4956048" cy="566928"/>
          </a:xfrm>
          <a:prstGeom prst="rect">
            <a:avLst/>
          </a:prstGeom>
          <a:noFill/>
        </p:spPr>
        <p:txBody>
          <a:bodyPr wrap="square" lIns="0" rIns="0" tIns="0" bIns="0">
            <a:spAutoFit/>
          </a:bodyPr>
          <a:lstStyle/>
          <a:p>
            <a:pPr>
              <a:lnSpc>
                <a:spcPts val="1500"/>
              </a:lnSpc>
            </a:pPr>
            <a:r>
              <a:rPr sz="1400" b="0" i="0">
                <a:solidFill>
                  <a:srgbClr val="605A70"/>
                </a:solidFill>
                <a:latin typeface="Calibri"/>
              </a:rPr>
              <a:t>A clean, confident, completely wrong chart. Nothing about it looked broken.</a:t>
            </a:r>
          </a:p>
        </p:txBody>
      </p:sp>
      <p:sp>
        <p:nvSpPr>
          <p:cNvPr id="8" name="TextBox 7"/>
          <p:cNvSpPr txBox="1"/>
          <p:nvPr/>
        </p:nvSpPr>
        <p:spPr>
          <a:xfrm>
            <a:off x="822960" y="3108960"/>
            <a:ext cx="4937760" cy="274320"/>
          </a:xfrm>
          <a:prstGeom prst="rect">
            <a:avLst/>
          </a:prstGeom>
          <a:noFill/>
        </p:spPr>
        <p:txBody>
          <a:bodyPr wrap="square" lIns="0" rIns="0" tIns="0" bIns="0">
            <a:spAutoFit/>
          </a:bodyPr>
          <a:lstStyle/>
          <a:p>
            <a:r>
              <a:rPr sz="1500" b="1" i="0">
                <a:solidFill>
                  <a:srgbClr val="1C1526"/>
                </a:solidFill>
                <a:latin typeface="Calibri"/>
              </a:rPr>
              <a:t>Provenance check</a:t>
            </a:r>
          </a:p>
        </p:txBody>
      </p:sp>
      <p:sp>
        <p:nvSpPr>
          <p:cNvPr id="9" name="TextBox 8"/>
          <p:cNvSpPr txBox="1"/>
          <p:nvPr/>
        </p:nvSpPr>
        <p:spPr>
          <a:xfrm>
            <a:off x="822960" y="3374136"/>
            <a:ext cx="4956048" cy="566928"/>
          </a:xfrm>
          <a:prstGeom prst="rect">
            <a:avLst/>
          </a:prstGeom>
          <a:noFill/>
        </p:spPr>
        <p:txBody>
          <a:bodyPr wrap="square" lIns="0" rIns="0" tIns="0" bIns="0">
            <a:spAutoFit/>
          </a:bodyPr>
          <a:lstStyle/>
          <a:p>
            <a:pPr>
              <a:lnSpc>
                <a:spcPts val="1500"/>
              </a:lnSpc>
            </a:pPr>
            <a:r>
              <a:rPr sz="1400" b="0" i="0">
                <a:solidFill>
                  <a:srgbClr val="605A70"/>
                </a:solidFill>
                <a:latin typeface="Calibri"/>
              </a:rPr>
              <a:t>I made the classifier report which term fired on every row. “Review” and “rating” were matching self-reference — “writing this review”, “giving 1 star rating” — which says nothing about trusting a product.</a:t>
            </a:r>
          </a:p>
        </p:txBody>
      </p:sp>
      <p:sp>
        <p:nvSpPr>
          <p:cNvPr id="10" name="TextBox 9"/>
          <p:cNvSpPr txBox="1"/>
          <p:nvPr/>
        </p:nvSpPr>
        <p:spPr>
          <a:xfrm>
            <a:off x="822960" y="3986783"/>
            <a:ext cx="4937760" cy="274320"/>
          </a:xfrm>
          <a:prstGeom prst="rect">
            <a:avLst/>
          </a:prstGeom>
          <a:noFill/>
        </p:spPr>
        <p:txBody>
          <a:bodyPr wrap="square" lIns="0" rIns="0" tIns="0" bIns="0">
            <a:spAutoFit/>
          </a:bodyPr>
          <a:lstStyle/>
          <a:p>
            <a:r>
              <a:rPr sz="1500" b="1" i="0">
                <a:solidFill>
                  <a:srgbClr val="1C1526"/>
                </a:solidFill>
                <a:latin typeface="Calibri"/>
              </a:rPr>
              <a:t>Two real bugs</a:t>
            </a:r>
          </a:p>
        </p:txBody>
      </p:sp>
      <p:sp>
        <p:nvSpPr>
          <p:cNvPr id="11" name="TextBox 10"/>
          <p:cNvSpPr txBox="1"/>
          <p:nvPr/>
        </p:nvSpPr>
        <p:spPr>
          <a:xfrm>
            <a:off x="822960" y="4251959"/>
            <a:ext cx="4956048" cy="566928"/>
          </a:xfrm>
          <a:prstGeom prst="rect">
            <a:avLst/>
          </a:prstGeom>
          <a:noFill/>
        </p:spPr>
        <p:txBody>
          <a:bodyPr wrap="square" lIns="0" rIns="0" tIns="0" bIns="0">
            <a:spAutoFit/>
          </a:bodyPr>
          <a:lstStyle/>
          <a:p>
            <a:pPr>
              <a:lnSpc>
                <a:spcPts val="1500"/>
              </a:lnSpc>
            </a:pPr>
            <a:r>
              <a:rPr sz="1400" b="0" i="0">
                <a:solidFill>
                  <a:srgbClr val="605A70"/>
                </a:solidFill>
                <a:latin typeface="Calibri"/>
              </a:rPr>
              <a:t>Trust cues now need product context. And all matching moved to word boundaries, because “cat” was matching inside “category”, making it the top category.</a:t>
            </a:r>
          </a:p>
        </p:txBody>
      </p:sp>
      <p:sp>
        <p:nvSpPr>
          <p:cNvPr id="12" name="TextBox 11"/>
          <p:cNvSpPr txBox="1"/>
          <p:nvPr/>
        </p:nvSpPr>
        <p:spPr>
          <a:xfrm>
            <a:off x="822960" y="4864608"/>
            <a:ext cx="4937760" cy="274320"/>
          </a:xfrm>
          <a:prstGeom prst="rect">
            <a:avLst/>
          </a:prstGeom>
          <a:noFill/>
        </p:spPr>
        <p:txBody>
          <a:bodyPr wrap="square" lIns="0" rIns="0" tIns="0" bIns="0">
            <a:spAutoFit/>
          </a:bodyPr>
          <a:lstStyle/>
          <a:p>
            <a:r>
              <a:rPr sz="1500" b="1" i="0">
                <a:solidFill>
                  <a:srgbClr val="1C1526"/>
                </a:solidFill>
                <a:latin typeface="Calibri"/>
              </a:rPr>
              <a:t>Run 2: 38%, and different</a:t>
            </a:r>
          </a:p>
        </p:txBody>
      </p:sp>
      <p:sp>
        <p:nvSpPr>
          <p:cNvPr id="13" name="TextBox 12"/>
          <p:cNvSpPr txBox="1"/>
          <p:nvPr/>
        </p:nvSpPr>
        <p:spPr>
          <a:xfrm>
            <a:off x="822960" y="5129784"/>
            <a:ext cx="4956048" cy="566928"/>
          </a:xfrm>
          <a:prstGeom prst="rect">
            <a:avLst/>
          </a:prstGeom>
          <a:noFill/>
        </p:spPr>
        <p:txBody>
          <a:bodyPr wrap="square" lIns="0" rIns="0" tIns="0" bIns="0">
            <a:spAutoFit/>
          </a:bodyPr>
          <a:lstStyle/>
          <a:p>
            <a:pPr>
              <a:lnSpc>
                <a:spcPts val="1500"/>
              </a:lnSpc>
            </a:pPr>
            <a:r>
              <a:rPr sz="1400" b="0" i="0">
                <a:solidFill>
                  <a:srgbClr val="605A70"/>
                </a:solidFill>
                <a:latin typeface="Calibri"/>
              </a:rPr>
              <a:t>Trust dropped and its meaning changed: expiry, not reviews. Assortment overtook it.</a:t>
            </a:r>
          </a:p>
        </p:txBody>
      </p:sp>
      <p:sp>
        <p:nvSpPr>
          <p:cNvPr id="14" name="TextBox 13"/>
          <p:cNvSpPr txBox="1"/>
          <p:nvPr/>
        </p:nvSpPr>
        <p:spPr>
          <a:xfrm>
            <a:off x="822960" y="5614416"/>
            <a:ext cx="4956048" cy="292608"/>
          </a:xfrm>
          <a:prstGeom prst="rect">
            <a:avLst/>
          </a:prstGeom>
          <a:noFill/>
        </p:spPr>
        <p:txBody>
          <a:bodyPr wrap="square" lIns="0" rIns="0" tIns="0" bIns="0">
            <a:spAutoFit/>
          </a:bodyPr>
          <a:lstStyle/>
          <a:p>
            <a:r>
              <a:rPr sz="1400" b="0" i="1">
                <a:solidFill>
                  <a:srgbClr val="5B2D90"/>
                </a:solidFill>
                <a:latin typeface="Calibri"/>
              </a:rPr>
              <a:t>An unaudited classifier looks identical whether or not it is right.</a:t>
            </a:r>
          </a:p>
        </p:txBody>
      </p:sp>
      <p:sp>
        <p:nvSpPr>
          <p:cNvPr id="15" name="Rounded Rectangle 14"/>
          <p:cNvSpPr/>
          <p:nvPr/>
        </p:nvSpPr>
        <p:spPr>
          <a:xfrm>
            <a:off x="6355080" y="1755648"/>
            <a:ext cx="5257800" cy="420624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611112" y="1883664"/>
            <a:ext cx="4754880" cy="292608"/>
          </a:xfrm>
          <a:prstGeom prst="rect">
            <a:avLst/>
          </a:prstGeom>
          <a:noFill/>
        </p:spPr>
        <p:txBody>
          <a:bodyPr wrap="square" lIns="0" rIns="0" tIns="0" bIns="0">
            <a:spAutoFit/>
          </a:bodyPr>
          <a:lstStyle/>
          <a:p>
            <a:r>
              <a:rPr sz="1700" b="1" i="0">
                <a:solidFill>
                  <a:srgbClr val="5B2D90"/>
                </a:solidFill>
                <a:latin typeface="Calibri"/>
              </a:rPr>
              <a:t>Scored against a human</a:t>
            </a:r>
          </a:p>
        </p:txBody>
      </p:sp>
      <p:sp>
        <p:nvSpPr>
          <p:cNvPr id="17" name="TextBox 16"/>
          <p:cNvSpPr txBox="1"/>
          <p:nvPr/>
        </p:nvSpPr>
        <p:spPr>
          <a:xfrm>
            <a:off x="6611112" y="2212848"/>
            <a:ext cx="4754880" cy="457200"/>
          </a:xfrm>
          <a:prstGeom prst="rect">
            <a:avLst/>
          </a:prstGeom>
          <a:noFill/>
        </p:spPr>
        <p:txBody>
          <a:bodyPr wrap="square" lIns="0" rIns="0" tIns="0" bIns="0">
            <a:spAutoFit/>
          </a:bodyPr>
          <a:lstStyle/>
          <a:p>
            <a:pPr>
              <a:lnSpc>
                <a:spcPts val="1600"/>
              </a:lnSpc>
            </a:pPr>
            <a:r>
              <a:rPr sz="1400" b="0" i="0">
                <a:solidFill>
                  <a:srgbClr val="605A70"/>
                </a:solidFill>
                <a:latin typeface="Calibri"/>
              </a:rPr>
              <a:t>30 reviews, stratified by label, fixed seed, hand-labelled blind before seeing any model output.</a:t>
            </a:r>
          </a:p>
        </p:txBody>
      </p:sp>
      <p:sp>
        <p:nvSpPr>
          <p:cNvPr id="18" name="TextBox 17"/>
          <p:cNvSpPr txBox="1"/>
          <p:nvPr/>
        </p:nvSpPr>
        <p:spPr>
          <a:xfrm>
            <a:off x="6611112" y="2761488"/>
            <a:ext cx="1463040" cy="384048"/>
          </a:xfrm>
          <a:prstGeom prst="rect">
            <a:avLst/>
          </a:prstGeom>
          <a:noFill/>
        </p:spPr>
        <p:txBody>
          <a:bodyPr wrap="square" lIns="0" rIns="0" tIns="0" bIns="0">
            <a:spAutoFit/>
          </a:bodyPr>
          <a:lstStyle/>
          <a:p>
            <a:r>
              <a:rPr sz="2000" b="1" i="0">
                <a:solidFill>
                  <a:srgbClr val="E69F00"/>
                </a:solidFill>
                <a:latin typeface="Cambria"/>
              </a:rPr>
              <a:t>0.32</a:t>
            </a:r>
          </a:p>
        </p:txBody>
      </p:sp>
      <p:sp>
        <p:nvSpPr>
          <p:cNvPr id="19" name="TextBox 18"/>
          <p:cNvSpPr txBox="1"/>
          <p:nvPr/>
        </p:nvSpPr>
        <p:spPr>
          <a:xfrm>
            <a:off x="8183879" y="2779776"/>
            <a:ext cx="3291840" cy="512064"/>
          </a:xfrm>
          <a:prstGeom prst="rect">
            <a:avLst/>
          </a:prstGeom>
          <a:noFill/>
        </p:spPr>
        <p:txBody>
          <a:bodyPr wrap="square" lIns="0" rIns="0" tIns="0" bIns="0">
            <a:spAutoFit/>
          </a:bodyPr>
          <a:lstStyle/>
          <a:p>
            <a:pPr>
              <a:lnSpc>
                <a:spcPts val="1500"/>
              </a:lnSpc>
            </a:pPr>
            <a:r>
              <a:rPr sz="1400" b="0" i="0">
                <a:solidFill>
                  <a:srgbClr val="1C1526"/>
                </a:solidFill>
                <a:latin typeface="Calibri"/>
              </a:rPr>
              <a:t>Cohen's kappa — fair, not substantial. Reported as-is.</a:t>
            </a:r>
          </a:p>
        </p:txBody>
      </p:sp>
      <p:sp>
        <p:nvSpPr>
          <p:cNvPr id="20" name="TextBox 19"/>
          <p:cNvSpPr txBox="1"/>
          <p:nvPr/>
        </p:nvSpPr>
        <p:spPr>
          <a:xfrm>
            <a:off x="6611112" y="3364992"/>
            <a:ext cx="1463040" cy="384048"/>
          </a:xfrm>
          <a:prstGeom prst="rect">
            <a:avLst/>
          </a:prstGeom>
          <a:noFill/>
        </p:spPr>
        <p:txBody>
          <a:bodyPr wrap="square" lIns="0" rIns="0" tIns="0" bIns="0">
            <a:spAutoFit/>
          </a:bodyPr>
          <a:lstStyle/>
          <a:p>
            <a:r>
              <a:rPr sz="2000" b="1" i="0">
                <a:solidFill>
                  <a:srgbClr val="1C1526"/>
                </a:solidFill>
                <a:latin typeface="Cambria"/>
              </a:rPr>
              <a:t>53%</a:t>
            </a:r>
          </a:p>
        </p:txBody>
      </p:sp>
      <p:sp>
        <p:nvSpPr>
          <p:cNvPr id="21" name="TextBox 20"/>
          <p:cNvSpPr txBox="1"/>
          <p:nvPr/>
        </p:nvSpPr>
        <p:spPr>
          <a:xfrm>
            <a:off x="8183879" y="3383280"/>
            <a:ext cx="3291840" cy="512064"/>
          </a:xfrm>
          <a:prstGeom prst="rect">
            <a:avLst/>
          </a:prstGeom>
          <a:noFill/>
        </p:spPr>
        <p:txBody>
          <a:bodyPr wrap="square" lIns="0" rIns="0" tIns="0" bIns="0">
            <a:spAutoFit/>
          </a:bodyPr>
          <a:lstStyle/>
          <a:p>
            <a:pPr>
              <a:lnSpc>
                <a:spcPts val="1500"/>
              </a:lnSpc>
            </a:pPr>
            <a:r>
              <a:rPr sz="1400" b="0" i="0">
                <a:solidFill>
                  <a:srgbClr val="1C1526"/>
                </a:solidFill>
                <a:latin typeface="Calibri"/>
              </a:rPr>
              <a:t>raw agreement across 7 classes</a:t>
            </a:r>
          </a:p>
        </p:txBody>
      </p:sp>
      <p:sp>
        <p:nvSpPr>
          <p:cNvPr id="22" name="TextBox 21"/>
          <p:cNvSpPr txBox="1"/>
          <p:nvPr/>
        </p:nvSpPr>
        <p:spPr>
          <a:xfrm>
            <a:off x="6611112" y="3968496"/>
            <a:ext cx="1463040" cy="384048"/>
          </a:xfrm>
          <a:prstGeom prst="rect">
            <a:avLst/>
          </a:prstGeom>
          <a:noFill/>
        </p:spPr>
        <p:txBody>
          <a:bodyPr wrap="square" lIns="0" rIns="0" tIns="0" bIns="0">
            <a:spAutoFit/>
          </a:bodyPr>
          <a:lstStyle/>
          <a:p>
            <a:r>
              <a:rPr sz="2000" b="1" i="0">
                <a:solidFill>
                  <a:srgbClr val="009E73"/>
                </a:solidFill>
                <a:latin typeface="Cambria"/>
              </a:rPr>
              <a:t>0/20</a:t>
            </a:r>
          </a:p>
        </p:txBody>
      </p:sp>
      <p:sp>
        <p:nvSpPr>
          <p:cNvPr id="23" name="TextBox 22"/>
          <p:cNvSpPr txBox="1"/>
          <p:nvPr/>
        </p:nvSpPr>
        <p:spPr>
          <a:xfrm>
            <a:off x="8183879" y="3986783"/>
            <a:ext cx="3291840" cy="512064"/>
          </a:xfrm>
          <a:prstGeom prst="rect">
            <a:avLst/>
          </a:prstGeom>
          <a:noFill/>
        </p:spPr>
        <p:txBody>
          <a:bodyPr wrap="square" lIns="0" rIns="0" tIns="0" bIns="0">
            <a:spAutoFit/>
          </a:bodyPr>
          <a:lstStyle/>
          <a:p>
            <a:pPr>
              <a:lnSpc>
                <a:spcPts val="1500"/>
              </a:lnSpc>
            </a:pPr>
            <a:r>
              <a:rPr sz="1400" b="0" i="0">
                <a:solidFill>
                  <a:srgbClr val="1C1526"/>
                </a:solidFill>
                <a:latin typeface="Calibri"/>
              </a:rPr>
              <a:t>negative-control leakage — the gate isn't inventing signal</a:t>
            </a:r>
          </a:p>
        </p:txBody>
      </p:sp>
      <p:sp>
        <p:nvSpPr>
          <p:cNvPr id="24" name="Rounded Rectangle 23"/>
          <p:cNvSpPr/>
          <p:nvPr/>
        </p:nvSpPr>
        <p:spPr>
          <a:xfrm>
            <a:off x="6611112" y="4590288"/>
            <a:ext cx="4754880" cy="1316736"/>
          </a:xfrm>
          <a:prstGeom prst="roundRect">
            <a:avLst>
              <a:gd name="adj" fmla="val 5500"/>
            </a:avLst>
          </a:prstGeom>
          <a:solidFill>
            <a:srgbClr val="FDF6E8"/>
          </a:solidFill>
          <a:ln w="9525">
            <a:solidFill>
              <a:srgbClr val="F0E0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812280" y="4700016"/>
            <a:ext cx="4389120" cy="256032"/>
          </a:xfrm>
          <a:prstGeom prst="rect">
            <a:avLst/>
          </a:prstGeom>
          <a:noFill/>
        </p:spPr>
        <p:txBody>
          <a:bodyPr wrap="square" lIns="0" rIns="0" tIns="0" bIns="0">
            <a:spAutoFit/>
          </a:bodyPr>
          <a:lstStyle/>
          <a:p>
            <a:r>
              <a:rPr sz="1500" b="1" i="0">
                <a:solidFill>
                  <a:srgbClr val="1C1526"/>
                </a:solidFill>
                <a:latin typeface="Calibri"/>
              </a:rPr>
              <a:t>The errors run one way</a:t>
            </a:r>
          </a:p>
        </p:txBody>
      </p:sp>
      <p:sp>
        <p:nvSpPr>
          <p:cNvPr id="26" name="TextBox 25"/>
          <p:cNvSpPr txBox="1"/>
          <p:nvPr/>
        </p:nvSpPr>
        <p:spPr>
          <a:xfrm>
            <a:off x="6812280" y="4992624"/>
            <a:ext cx="4370832" cy="859536"/>
          </a:xfrm>
          <a:prstGeom prst="rect">
            <a:avLst/>
          </a:prstGeom>
          <a:noFill/>
        </p:spPr>
        <p:txBody>
          <a:bodyPr wrap="square" lIns="0" rIns="0" tIns="0" bIns="0">
            <a:spAutoFit/>
          </a:bodyPr>
          <a:lstStyle/>
          <a:p>
            <a:pPr>
              <a:lnSpc>
                <a:spcPts val="1500"/>
              </a:lnSpc>
            </a:pPr>
            <a:r>
              <a:rPr sz="1400" b="0" i="0">
                <a:solidFill>
                  <a:srgbClr val="1C1526"/>
                </a:solidFill>
                <a:latin typeface="Calibri"/>
              </a:rPr>
              <a:t>10 of 30 disagreements are the model finding a barrier where I saw none; only 3 are the reverse. It over-triggers, so 107 is an upper bound and the real signal is thinner still.</a:t>
            </a:r>
          </a:p>
        </p:txBody>
      </p:sp>
      <p:sp>
        <p:nvSpPr>
          <p:cNvPr id="27" name="TextBox 26"/>
          <p:cNvSpPr txBox="1"/>
          <p:nvPr/>
        </p:nvSpPr>
        <p:spPr>
          <a:xfrm>
            <a:off x="566928" y="6345936"/>
            <a:ext cx="11064240" cy="365760"/>
          </a:xfrm>
          <a:prstGeom prst="rect">
            <a:avLst/>
          </a:prstGeom>
          <a:noFill/>
        </p:spPr>
        <p:txBody>
          <a:bodyPr wrap="square" lIns="0" rIns="0" tIns="0" bIns="0">
            <a:spAutoFit/>
          </a:bodyPr>
          <a:lstStyle/>
          <a:p>
            <a:pPr>
              <a:lnSpc>
                <a:spcPts val="1600"/>
              </a:lnSpc>
            </a:pPr>
            <a:r>
              <a:rPr sz="1400" b="0" i="0">
                <a:solidFill>
                  <a:srgbClr val="605A70"/>
                </a:solidFill>
                <a:latin typeface="Calibri"/>
              </a:rPr>
              <a:t>A fair kappa with a diagnosed, directional error is more useful than a high one with no explanation. n=30, and I am not rounding that 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B2D90"/>
                </a:solidFill>
                <a:latin typeface="Calibri"/>
              </a:rPr>
              <a:t>PART 3 · THE PROBLEM</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1C1526"/>
                </a:solidFill>
                <a:latin typeface="Cambria"/>
              </a:rPr>
              <a:t>Zepto is a retrieval interface being asked to sell deliberation. The public data can't see it — which is why I asked users.</a:t>
            </a:r>
          </a:p>
        </p:txBody>
      </p:sp>
      <p:sp>
        <p:nvSpPr>
          <p:cNvPr id="4" name="Rounded Rectangle 3"/>
          <p:cNvSpPr/>
          <p:nvPr/>
        </p:nvSpPr>
        <p:spPr>
          <a:xfrm>
            <a:off x="566928" y="1755648"/>
            <a:ext cx="3547872" cy="228600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04672" y="1883664"/>
            <a:ext cx="3108960" cy="256032"/>
          </a:xfrm>
          <a:prstGeom prst="rect">
            <a:avLst/>
          </a:prstGeom>
          <a:noFill/>
        </p:spPr>
        <p:txBody>
          <a:bodyPr wrap="square" lIns="0" rIns="0" tIns="0" bIns="0">
            <a:spAutoFit/>
          </a:bodyPr>
          <a:lstStyle/>
          <a:p>
            <a:r>
              <a:rPr sz="1400" b="1" i="0" spc="100">
                <a:solidFill>
                  <a:srgbClr val="5B2D90"/>
                </a:solidFill>
                <a:latin typeface="Calibri"/>
              </a:rPr>
              <a:t>ESTABLISHED</a:t>
            </a:r>
          </a:p>
        </p:txBody>
      </p:sp>
      <p:sp>
        <p:nvSpPr>
          <p:cNvPr id="6" name="TextBox 5"/>
          <p:cNvSpPr txBox="1"/>
          <p:nvPr/>
        </p:nvSpPr>
        <p:spPr>
          <a:xfrm>
            <a:off x="804672" y="2194560"/>
            <a:ext cx="3108960" cy="566928"/>
          </a:xfrm>
          <a:prstGeom prst="rect">
            <a:avLst/>
          </a:prstGeom>
          <a:noFill/>
        </p:spPr>
        <p:txBody>
          <a:bodyPr wrap="square" lIns="0" rIns="0" tIns="0" bIns="0">
            <a:spAutoFit/>
          </a:bodyPr>
          <a:lstStyle/>
          <a:p>
            <a:pPr>
              <a:lnSpc>
                <a:spcPts val="1900"/>
              </a:lnSpc>
            </a:pPr>
            <a:r>
              <a:rPr sz="1600" b="1" i="0">
                <a:solidFill>
                  <a:srgbClr val="1C1526"/>
                </a:solidFill>
                <a:latin typeface="Calibri"/>
              </a:rPr>
              <a:t>The rate collapses</a:t>
            </a:r>
          </a:p>
        </p:txBody>
      </p:sp>
      <p:sp>
        <p:nvSpPr>
          <p:cNvPr id="7" name="TextBox 6"/>
          <p:cNvSpPr txBox="1"/>
          <p:nvPr/>
        </p:nvSpPr>
        <p:spPr>
          <a:xfrm>
            <a:off x="804672" y="2816352"/>
            <a:ext cx="3090672" cy="1188720"/>
          </a:xfrm>
          <a:prstGeom prst="rect">
            <a:avLst/>
          </a:prstGeom>
          <a:noFill/>
        </p:spPr>
        <p:txBody>
          <a:bodyPr wrap="square" lIns="0" rIns="0" tIns="0" bIns="0">
            <a:spAutoFit/>
          </a:bodyPr>
          <a:lstStyle/>
          <a:p>
            <a:pPr>
              <a:lnSpc>
                <a:spcPts val="1500"/>
              </a:lnSpc>
            </a:pPr>
            <a:r>
              <a:rPr sz="1400" b="0" i="0">
                <a:solidFill>
                  <a:srgbClr val="605A70"/>
                </a:solidFill>
                <a:latin typeface="Calibri"/>
              </a:rPr>
              <a:t>Zepto's own cohort disclosure: 0.78 new categories per month in year one, 0.55 in year two. Arithmetic, not inference. The problem is real and it is getting worse.</a:t>
            </a:r>
          </a:p>
        </p:txBody>
      </p:sp>
      <p:sp>
        <p:nvSpPr>
          <p:cNvPr id="8" name="Rounded Rectangle 7"/>
          <p:cNvSpPr/>
          <p:nvPr/>
        </p:nvSpPr>
        <p:spPr>
          <a:xfrm>
            <a:off x="4279392" y="1755648"/>
            <a:ext cx="3547872" cy="2286000"/>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17136" y="1883664"/>
            <a:ext cx="3108960" cy="256032"/>
          </a:xfrm>
          <a:prstGeom prst="rect">
            <a:avLst/>
          </a:prstGeom>
          <a:noFill/>
        </p:spPr>
        <p:txBody>
          <a:bodyPr wrap="square" lIns="0" rIns="0" tIns="0" bIns="0">
            <a:spAutoFit/>
          </a:bodyPr>
          <a:lstStyle/>
          <a:p>
            <a:r>
              <a:rPr sz="1400" b="1" i="0" spc="100">
                <a:solidFill>
                  <a:srgbClr val="0072B2"/>
                </a:solidFill>
                <a:latin typeface="Calibri"/>
              </a:rPr>
              <a:t>RULED OUT</a:t>
            </a:r>
          </a:p>
        </p:txBody>
      </p:sp>
      <p:sp>
        <p:nvSpPr>
          <p:cNvPr id="10" name="TextBox 9"/>
          <p:cNvSpPr txBox="1"/>
          <p:nvPr/>
        </p:nvSpPr>
        <p:spPr>
          <a:xfrm>
            <a:off x="4517136" y="2194560"/>
            <a:ext cx="3108960" cy="566928"/>
          </a:xfrm>
          <a:prstGeom prst="rect">
            <a:avLst/>
          </a:prstGeom>
          <a:noFill/>
        </p:spPr>
        <p:txBody>
          <a:bodyPr wrap="square" lIns="0" rIns="0" tIns="0" bIns="0">
            <a:spAutoFit/>
          </a:bodyPr>
          <a:lstStyle/>
          <a:p>
            <a:pPr>
              <a:lnSpc>
                <a:spcPts val="1900"/>
              </a:lnSpc>
            </a:pPr>
            <a:r>
              <a:rPr sz="1600" b="1" i="0">
                <a:solidFill>
                  <a:srgbClr val="1C1526"/>
                </a:solidFill>
                <a:latin typeface="Calibri"/>
              </a:rPr>
              <a:t>It isn't awareness, and it isn't visible in reviews</a:t>
            </a:r>
          </a:p>
        </p:txBody>
      </p:sp>
      <p:sp>
        <p:nvSpPr>
          <p:cNvPr id="11" name="TextBox 10"/>
          <p:cNvSpPr txBox="1"/>
          <p:nvPr/>
        </p:nvSpPr>
        <p:spPr>
          <a:xfrm>
            <a:off x="4517136" y="2816352"/>
            <a:ext cx="3090672" cy="1188720"/>
          </a:xfrm>
          <a:prstGeom prst="rect">
            <a:avLst/>
          </a:prstGeom>
          <a:noFill/>
        </p:spPr>
        <p:txBody>
          <a:bodyPr wrap="square" lIns="0" rIns="0" tIns="0" bIns="0">
            <a:spAutoFit/>
          </a:bodyPr>
          <a:lstStyle/>
          <a:p>
            <a:pPr>
              <a:lnSpc>
                <a:spcPts val="1500"/>
              </a:lnSpc>
            </a:pPr>
            <a:r>
              <a:rPr sz="1400" b="0" i="0">
                <a:solidFill>
                  <a:srgbClr val="605A70"/>
                </a:solidFill>
                <a:latin typeface="Calibri"/>
              </a:rPr>
              <a:t>3 awareness mentions in 3,000 reviews. What surfaces instead is stock-outs and expiry, both operational. Public review data is the wrong instrument for a question about purchases that never happened.</a:t>
            </a:r>
          </a:p>
        </p:txBody>
      </p:sp>
      <p:sp>
        <p:nvSpPr>
          <p:cNvPr id="12" name="Rounded Rectangle 11"/>
          <p:cNvSpPr/>
          <p:nvPr/>
        </p:nvSpPr>
        <p:spPr>
          <a:xfrm>
            <a:off x="7991855" y="1755648"/>
            <a:ext cx="3547872" cy="2286000"/>
          </a:xfrm>
          <a:prstGeom prst="roundRect">
            <a:avLst>
              <a:gd name="adj" fmla="val 5500"/>
            </a:avLst>
          </a:prstGeom>
          <a:solidFill>
            <a:srgbClr val="E9F6F2"/>
          </a:solidFill>
          <a:ln w="9525">
            <a:solidFill>
              <a:srgbClr val="B8E0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599" y="1883664"/>
            <a:ext cx="3108960" cy="256032"/>
          </a:xfrm>
          <a:prstGeom prst="rect">
            <a:avLst/>
          </a:prstGeom>
          <a:noFill/>
        </p:spPr>
        <p:txBody>
          <a:bodyPr wrap="square" lIns="0" rIns="0" tIns="0" bIns="0">
            <a:spAutoFit/>
          </a:bodyPr>
          <a:lstStyle/>
          <a:p>
            <a:r>
              <a:rPr sz="1400" b="1" i="0" spc="100">
                <a:solidFill>
                  <a:srgbClr val="009E73"/>
                </a:solidFill>
                <a:latin typeface="Calibri"/>
              </a:rPr>
              <a:t>FOUND IN INTERVIEWS</a:t>
            </a:r>
          </a:p>
        </p:txBody>
      </p:sp>
      <p:sp>
        <p:nvSpPr>
          <p:cNvPr id="14" name="TextBox 13"/>
          <p:cNvSpPr txBox="1"/>
          <p:nvPr/>
        </p:nvSpPr>
        <p:spPr>
          <a:xfrm>
            <a:off x="8229599" y="2194560"/>
            <a:ext cx="3108960" cy="566928"/>
          </a:xfrm>
          <a:prstGeom prst="rect">
            <a:avLst/>
          </a:prstGeom>
          <a:noFill/>
        </p:spPr>
        <p:txBody>
          <a:bodyPr wrap="square" lIns="0" rIns="0" tIns="0" bIns="0">
            <a:spAutoFit/>
          </a:bodyPr>
          <a:lstStyle/>
          <a:p>
            <a:pPr>
              <a:lnSpc>
                <a:spcPts val="1900"/>
              </a:lnSpc>
            </a:pPr>
            <a:r>
              <a:rPr sz="1600" b="1" i="0">
                <a:solidFill>
                  <a:srgbClr val="1C1526"/>
                </a:solidFill>
                <a:latin typeface="Calibri"/>
              </a:rPr>
              <a:t>The product page cannot answer the question</a:t>
            </a:r>
          </a:p>
        </p:txBody>
      </p:sp>
      <p:sp>
        <p:nvSpPr>
          <p:cNvPr id="15" name="TextBox 14"/>
          <p:cNvSpPr txBox="1"/>
          <p:nvPr/>
        </p:nvSpPr>
        <p:spPr>
          <a:xfrm>
            <a:off x="8229599" y="2816352"/>
            <a:ext cx="3090672" cy="1188720"/>
          </a:xfrm>
          <a:prstGeom prst="rect">
            <a:avLst/>
          </a:prstGeom>
          <a:noFill/>
        </p:spPr>
        <p:txBody>
          <a:bodyPr wrap="square" lIns="0" rIns="0" tIns="0" bIns="0">
            <a:spAutoFit/>
          </a:bodyPr>
          <a:lstStyle/>
          <a:p>
            <a:pPr>
              <a:lnSpc>
                <a:spcPts val="1500"/>
              </a:lnSpc>
            </a:pPr>
            <a:r>
              <a:rPr sz="1400" b="0" i="0">
                <a:solidFill>
                  <a:srgbClr val="605A70"/>
                </a:solidFill>
                <a:latin typeface="Calibri"/>
              </a:rPr>
              <a:t>3 of 6 named the same gap unprompted: no verified reviews, stock images, no specs, no seller verification. Two go to Nykaa and Amazon for exactly that. A fourth never recalls that beauty exists on the app.</a:t>
            </a:r>
          </a:p>
        </p:txBody>
      </p:sp>
      <p:sp>
        <p:nvSpPr>
          <p:cNvPr id="16" name="Rounded Rectangle 15"/>
          <p:cNvSpPr/>
          <p:nvPr/>
        </p:nvSpPr>
        <p:spPr>
          <a:xfrm>
            <a:off x="566928" y="4224528"/>
            <a:ext cx="3657600" cy="1874519"/>
          </a:xfrm>
          <a:prstGeom prst="roundRect">
            <a:avLst>
              <a:gd name="adj" fmla="val 5500"/>
            </a:avLst>
          </a:prstGeom>
          <a:solidFill>
            <a:srgbClr val="F1EEF7"/>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352544"/>
            <a:ext cx="3200400" cy="256032"/>
          </a:xfrm>
          <a:prstGeom prst="rect">
            <a:avLst/>
          </a:prstGeom>
          <a:noFill/>
        </p:spPr>
        <p:txBody>
          <a:bodyPr wrap="square" lIns="0" rIns="0" tIns="0" bIns="0">
            <a:spAutoFit/>
          </a:bodyPr>
          <a:lstStyle/>
          <a:p>
            <a:r>
              <a:rPr sz="1400" b="1" i="0" spc="100">
                <a:solidFill>
                  <a:srgbClr val="5B2D90"/>
                </a:solidFill>
                <a:latin typeface="Calibri"/>
              </a:rPr>
              <a:t>THE SEGMENT</a:t>
            </a:r>
          </a:p>
        </p:txBody>
      </p:sp>
      <p:sp>
        <p:nvSpPr>
          <p:cNvPr id="18" name="TextBox 17"/>
          <p:cNvSpPr txBox="1"/>
          <p:nvPr/>
        </p:nvSpPr>
        <p:spPr>
          <a:xfrm>
            <a:off x="804672" y="4626864"/>
            <a:ext cx="3291840" cy="329184"/>
          </a:xfrm>
          <a:prstGeom prst="rect">
            <a:avLst/>
          </a:prstGeom>
          <a:noFill/>
        </p:spPr>
        <p:txBody>
          <a:bodyPr wrap="square" lIns="0" rIns="0" tIns="0" bIns="0">
            <a:spAutoFit/>
          </a:bodyPr>
          <a:lstStyle/>
          <a:p>
            <a:r>
              <a:rPr sz="1700" b="1" i="0">
                <a:solidFill>
                  <a:srgbClr val="1C1526"/>
                </a:solidFill>
                <a:latin typeface="Cambria"/>
              </a:rPr>
              <a:t>The Plateaued Regular</a:t>
            </a:r>
          </a:p>
        </p:txBody>
      </p:sp>
      <p:sp>
        <p:nvSpPr>
          <p:cNvPr id="19" name="TextBox 18"/>
          <p:cNvSpPr txBox="1"/>
          <p:nvPr/>
        </p:nvSpPr>
        <p:spPr>
          <a:xfrm>
            <a:off x="804672" y="5010912"/>
            <a:ext cx="3200400" cy="1005840"/>
          </a:xfrm>
          <a:prstGeom prst="rect">
            <a:avLst/>
          </a:prstGeom>
          <a:noFill/>
        </p:spPr>
        <p:txBody>
          <a:bodyPr wrap="square" lIns="0" rIns="0" tIns="0" bIns="0">
            <a:spAutoFit/>
          </a:bodyPr>
          <a:lstStyle/>
          <a:p>
            <a:pPr>
              <a:lnSpc>
                <a:spcPts val="1600"/>
              </a:lnSpc>
              <a:spcAft>
                <a:spcPts val="500"/>
              </a:spcAft>
            </a:pPr>
            <a:r>
              <a:rPr sz="1400" b="0" i="0">
                <a:solidFill>
                  <a:srgbClr val="1C1526"/>
                </a:solidFill>
                <a:latin typeface="Calibri"/>
              </a:rPr>
              <a:t>•  6+ orders a month</a:t>
            </a:r>
          </a:p>
          <a:p>
            <a:pPr>
              <a:lnSpc>
                <a:spcPts val="1600"/>
              </a:lnSpc>
              <a:spcAft>
                <a:spcPts val="500"/>
              </a:spcAft>
            </a:pPr>
            <a:r>
              <a:rPr sz="1400" b="0" i="0">
                <a:solidFill>
                  <a:srgbClr val="1C1526"/>
                </a:solidFill>
                <a:latin typeface="Calibri"/>
              </a:rPr>
              <a:t>•  12+ months on the app</a:t>
            </a:r>
          </a:p>
          <a:p>
            <a:pPr>
              <a:lnSpc>
                <a:spcPts val="1600"/>
              </a:lnSpc>
              <a:spcAft>
                <a:spcPts val="500"/>
              </a:spcAft>
            </a:pPr>
            <a:r>
              <a:rPr sz="1400" b="0" i="0">
                <a:solidFill>
                  <a:srgbClr val="1C1526"/>
                </a:solidFill>
                <a:latin typeface="Calibri"/>
              </a:rPr>
              <a:t>•  A fixed 6–9 category repertoire</a:t>
            </a:r>
          </a:p>
          <a:p>
            <a:pPr>
              <a:lnSpc>
                <a:spcPts val="1600"/>
              </a:lnSpc>
              <a:spcAft>
                <a:spcPts val="500"/>
              </a:spcAft>
            </a:pPr>
            <a:r>
              <a:rPr sz="1400" b="0" i="0">
                <a:solidFill>
                  <a:srgbClr val="1C1526"/>
                </a:solidFill>
                <a:latin typeface="Calibri"/>
              </a:rPr>
              <a:t>•  No new category in 60+ days</a:t>
            </a:r>
          </a:p>
        </p:txBody>
      </p:sp>
      <p:sp>
        <p:nvSpPr>
          <p:cNvPr id="20" name="Rounded Rectangle 19"/>
          <p:cNvSpPr/>
          <p:nvPr/>
        </p:nvSpPr>
        <p:spPr>
          <a:xfrm>
            <a:off x="4407408" y="4224528"/>
            <a:ext cx="7205472" cy="1874519"/>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663440" y="4352544"/>
            <a:ext cx="6583680" cy="256032"/>
          </a:xfrm>
          <a:prstGeom prst="rect">
            <a:avLst/>
          </a:prstGeom>
          <a:noFill/>
        </p:spPr>
        <p:txBody>
          <a:bodyPr wrap="square" lIns="0" rIns="0" tIns="0" bIns="0">
            <a:spAutoFit/>
          </a:bodyPr>
          <a:lstStyle/>
          <a:p>
            <a:r>
              <a:rPr sz="1400" b="1" i="0" spc="100">
                <a:solidFill>
                  <a:srgbClr val="5B2D90"/>
                </a:solidFill>
                <a:latin typeface="Calibri"/>
              </a:rPr>
              <a:t>THE ROOT CAUSE</a:t>
            </a:r>
          </a:p>
        </p:txBody>
      </p:sp>
      <p:sp>
        <p:nvSpPr>
          <p:cNvPr id="22" name="TextBox 21"/>
          <p:cNvSpPr txBox="1"/>
          <p:nvPr/>
        </p:nvSpPr>
        <p:spPr>
          <a:xfrm>
            <a:off x="4663440" y="4645152"/>
            <a:ext cx="6675120" cy="914400"/>
          </a:xfrm>
          <a:prstGeom prst="rect">
            <a:avLst/>
          </a:prstGeom>
          <a:noFill/>
        </p:spPr>
        <p:txBody>
          <a:bodyPr wrap="square" lIns="0" rIns="0" tIns="0" bIns="0">
            <a:spAutoFit/>
          </a:bodyPr>
          <a:lstStyle/>
          <a:p>
            <a:pPr>
              <a:lnSpc>
                <a:spcPts val="1800"/>
              </a:lnSpc>
            </a:pPr>
            <a:r>
              <a:rPr sz="1500" b="0" i="0">
                <a:solidFill>
                  <a:srgbClr val="1C1526"/>
                </a:solidFill>
                <a:latin typeface="Calibri"/>
              </a:rPr>
              <a:t>The ten-minute promise sets the user's mental mode to task execution, and the app has no mechanism for resolving uncertainty. The categories left unentered after month 12 are the ones carrying personal consequence — sunscreen, a first protein powder, a new puppy's food.</a:t>
            </a:r>
          </a:p>
        </p:txBody>
      </p:sp>
      <p:sp>
        <p:nvSpPr>
          <p:cNvPr id="23" name="TextBox 22"/>
          <p:cNvSpPr txBox="1"/>
          <p:nvPr/>
        </p:nvSpPr>
        <p:spPr>
          <a:xfrm>
            <a:off x="4663440" y="5614416"/>
            <a:ext cx="6675120" cy="365760"/>
          </a:xfrm>
          <a:prstGeom prst="rect">
            <a:avLst/>
          </a:prstGeom>
          <a:noFill/>
        </p:spPr>
        <p:txBody>
          <a:bodyPr wrap="square" lIns="0" rIns="0" tIns="0" bIns="0">
            <a:spAutoFit/>
          </a:bodyPr>
          <a:lstStyle/>
          <a:p>
            <a:r>
              <a:rPr sz="1500" b="1" i="1">
                <a:solidFill>
                  <a:srgbClr val="5B2D90"/>
                </a:solidFill>
                <a:latin typeface="Calibri"/>
              </a:rPr>
              <a:t>Zepto's greatest strength is the direct cause of the metric it is now trying to move.</a:t>
            </a:r>
          </a:p>
        </p:txBody>
      </p:sp>
      <p:sp>
        <p:nvSpPr>
          <p:cNvPr id="24" name="TextBox 23"/>
          <p:cNvSpPr txBox="1"/>
          <p:nvPr/>
        </p:nvSpPr>
        <p:spPr>
          <a:xfrm>
            <a:off x="566928" y="6345936"/>
            <a:ext cx="11064240" cy="365760"/>
          </a:xfrm>
          <a:prstGeom prst="rect">
            <a:avLst/>
          </a:prstGeom>
          <a:noFill/>
        </p:spPr>
        <p:txBody>
          <a:bodyPr wrap="square" lIns="0" rIns="0" tIns="0" bIns="0">
            <a:spAutoFit/>
          </a:bodyPr>
          <a:lstStyle/>
          <a:p>
            <a:pPr>
              <a:lnSpc>
                <a:spcPts val="1600"/>
              </a:lnSpc>
            </a:pPr>
            <a:r>
              <a:rPr sz="1400" b="0" i="0">
                <a:solidFill>
                  <a:srgbClr val="605A70"/>
                </a:solidFill>
                <a:latin typeface="Calibri"/>
              </a:rPr>
              <a:t>n=6, recruited on behaviour: 2–6 orders a week, 12+ months' tenure, a narrow repeating repertoire. Small sample, stated as such — the pattern held across all six.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B1F5C"/>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6B4E9"/>
                </a:solidFill>
                <a:latin typeface="Calibri"/>
              </a:rPr>
              <a:t>WHY NOW</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FFFFFF"/>
                </a:solidFill>
                <a:latin typeface="Cambria"/>
              </a:rPr>
              <a:t>This is not a growth metric. It is the only margin lever left that does not require buying more users.</a:t>
            </a:r>
          </a:p>
        </p:txBody>
      </p:sp>
      <p:sp>
        <p:nvSpPr>
          <p:cNvPr id="4" name="Rounded Rectangle 3"/>
          <p:cNvSpPr/>
          <p:nvPr/>
        </p:nvSpPr>
        <p:spPr>
          <a:xfrm>
            <a:off x="566928" y="1874519"/>
            <a:ext cx="3547872" cy="2788920"/>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7" y="2084831"/>
            <a:ext cx="3063240" cy="685800"/>
          </a:xfrm>
          <a:prstGeom prst="rect">
            <a:avLst/>
          </a:prstGeom>
          <a:noFill/>
        </p:spPr>
        <p:txBody>
          <a:bodyPr wrap="square" lIns="0" rIns="0" tIns="0" bIns="0">
            <a:spAutoFit/>
          </a:bodyPr>
          <a:lstStyle/>
          <a:p>
            <a:pPr>
              <a:lnSpc>
                <a:spcPts val="2900"/>
              </a:lnSpc>
            </a:pPr>
            <a:r>
              <a:rPr sz="2500" b="1" i="0">
                <a:solidFill>
                  <a:srgbClr val="E69F00"/>
                </a:solidFill>
                <a:latin typeface="Cambria"/>
              </a:rPr>
              <a:t>49.54M → 47.97M</a:t>
            </a:r>
          </a:p>
        </p:txBody>
      </p:sp>
      <p:sp>
        <p:nvSpPr>
          <p:cNvPr id="6" name="TextBox 5"/>
          <p:cNvSpPr txBox="1"/>
          <p:nvPr/>
        </p:nvSpPr>
        <p:spPr>
          <a:xfrm>
            <a:off x="841247" y="2852928"/>
            <a:ext cx="3035808" cy="1691640"/>
          </a:xfrm>
          <a:prstGeom prst="rect">
            <a:avLst/>
          </a:prstGeom>
          <a:noFill/>
        </p:spPr>
        <p:txBody>
          <a:bodyPr wrap="square" lIns="0" rIns="0" tIns="0" bIns="0">
            <a:spAutoFit/>
          </a:bodyPr>
          <a:lstStyle/>
          <a:p>
            <a:pPr>
              <a:lnSpc>
                <a:spcPts val="1900"/>
              </a:lnSpc>
            </a:pPr>
            <a:r>
              <a:rPr sz="1500" b="0" i="0">
                <a:solidFill>
                  <a:srgbClr val="E0D6EF"/>
                </a:solidFill>
                <a:latin typeface="Calibri"/>
              </a:rPr>
              <a:t>Annual transacting users fell sequentially in Q4FY26 while quarterly orders rose from 167M to 210M. Acquisition is slowing; growth now has to come from existing users going wider.</a:t>
            </a:r>
          </a:p>
        </p:txBody>
      </p:sp>
      <p:sp>
        <p:nvSpPr>
          <p:cNvPr id="7" name="Rounded Rectangle 6"/>
          <p:cNvSpPr/>
          <p:nvPr/>
        </p:nvSpPr>
        <p:spPr>
          <a:xfrm>
            <a:off x="4279392" y="1874519"/>
            <a:ext cx="3547872" cy="2788920"/>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53712" y="2084831"/>
            <a:ext cx="3063240" cy="685800"/>
          </a:xfrm>
          <a:prstGeom prst="rect">
            <a:avLst/>
          </a:prstGeom>
          <a:noFill/>
        </p:spPr>
        <p:txBody>
          <a:bodyPr wrap="square" lIns="0" rIns="0" tIns="0" bIns="0">
            <a:spAutoFit/>
          </a:bodyPr>
          <a:lstStyle/>
          <a:p>
            <a:pPr>
              <a:lnSpc>
                <a:spcPts val="2900"/>
              </a:lnSpc>
            </a:pPr>
            <a:r>
              <a:rPr sz="2500" b="1" i="0">
                <a:solidFill>
                  <a:srgbClr val="CC79A7"/>
                </a:solidFill>
                <a:latin typeface="Cambria"/>
              </a:rPr>
              <a:t>₹59.40</a:t>
            </a:r>
          </a:p>
        </p:txBody>
      </p:sp>
      <p:sp>
        <p:nvSpPr>
          <p:cNvPr id="9" name="TextBox 8"/>
          <p:cNvSpPr txBox="1"/>
          <p:nvPr/>
        </p:nvSpPr>
        <p:spPr>
          <a:xfrm>
            <a:off x="4553712" y="2852928"/>
            <a:ext cx="3035808" cy="1691640"/>
          </a:xfrm>
          <a:prstGeom prst="rect">
            <a:avLst/>
          </a:prstGeom>
          <a:noFill/>
        </p:spPr>
        <p:txBody>
          <a:bodyPr wrap="square" lIns="0" rIns="0" tIns="0" bIns="0">
            <a:spAutoFit/>
          </a:bodyPr>
          <a:lstStyle/>
          <a:p>
            <a:pPr>
              <a:lnSpc>
                <a:spcPts val="1900"/>
              </a:lnSpc>
            </a:pPr>
            <a:r>
              <a:rPr sz="1500" b="0" i="0">
                <a:solidFill>
                  <a:srgbClr val="E0D6EF"/>
                </a:solidFill>
                <a:latin typeface="Calibri"/>
              </a:rPr>
              <a:t>Lost per order in Q4FY26. Blinkit made ₹1.35 on theirs. Every incremental order in a low-margin staple deepens the hole.</a:t>
            </a:r>
          </a:p>
        </p:txBody>
      </p:sp>
      <p:sp>
        <p:nvSpPr>
          <p:cNvPr id="10" name="Rounded Rectangle 9"/>
          <p:cNvSpPr/>
          <p:nvPr/>
        </p:nvSpPr>
        <p:spPr>
          <a:xfrm>
            <a:off x="7991855" y="1874519"/>
            <a:ext cx="3547872" cy="2788920"/>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66175" y="2084831"/>
            <a:ext cx="3063240" cy="685800"/>
          </a:xfrm>
          <a:prstGeom prst="rect">
            <a:avLst/>
          </a:prstGeom>
          <a:noFill/>
        </p:spPr>
        <p:txBody>
          <a:bodyPr wrap="square" lIns="0" rIns="0" tIns="0" bIns="0">
            <a:spAutoFit/>
          </a:bodyPr>
          <a:lstStyle/>
          <a:p>
            <a:pPr>
              <a:lnSpc>
                <a:spcPts val="2900"/>
              </a:lnSpc>
            </a:pPr>
            <a:r>
              <a:rPr sz="2500" b="1" i="0">
                <a:solidFill>
                  <a:srgbClr val="009E73"/>
                </a:solidFill>
                <a:latin typeface="Cambria"/>
              </a:rPr>
              <a:t>29% → 39–44%</a:t>
            </a:r>
          </a:p>
        </p:txBody>
      </p:sp>
      <p:sp>
        <p:nvSpPr>
          <p:cNvPr id="12" name="TextBox 11"/>
          <p:cNvSpPr txBox="1"/>
          <p:nvPr/>
        </p:nvSpPr>
        <p:spPr>
          <a:xfrm>
            <a:off x="8266175" y="2852928"/>
            <a:ext cx="3035808" cy="1691640"/>
          </a:xfrm>
          <a:prstGeom prst="rect">
            <a:avLst/>
          </a:prstGeom>
          <a:noFill/>
        </p:spPr>
        <p:txBody>
          <a:bodyPr wrap="square" lIns="0" rIns="0" tIns="0" bIns="0">
            <a:spAutoFit/>
          </a:bodyPr>
          <a:lstStyle/>
          <a:p>
            <a:pPr>
              <a:lnSpc>
                <a:spcPts val="1900"/>
              </a:lnSpc>
            </a:pPr>
            <a:r>
              <a:rPr sz="1500" b="0" i="0">
                <a:solidFill>
                  <a:srgbClr val="E0D6EF"/>
                </a:solidFill>
                <a:latin typeface="Calibri"/>
              </a:rPr>
              <a:t>Non-grocery share of quick-commerce GMV, CY25 to CY30. The higher-margin categories — and the ones a retrieval interface cannot sell.</a:t>
            </a:r>
          </a:p>
        </p:txBody>
      </p:sp>
      <p:sp>
        <p:nvSpPr>
          <p:cNvPr id="13" name="TextBox 12"/>
          <p:cNvSpPr txBox="1"/>
          <p:nvPr/>
        </p:nvSpPr>
        <p:spPr>
          <a:xfrm>
            <a:off x="566928" y="4983480"/>
            <a:ext cx="11064240" cy="822960"/>
          </a:xfrm>
          <a:prstGeom prst="rect">
            <a:avLst/>
          </a:prstGeom>
          <a:noFill/>
        </p:spPr>
        <p:txBody>
          <a:bodyPr wrap="square" lIns="0" rIns="0" tIns="0" bIns="0">
            <a:spAutoFit/>
          </a:bodyPr>
          <a:lstStyle/>
          <a:p>
            <a:pPr>
              <a:lnSpc>
                <a:spcPts val="2500"/>
              </a:lnSpc>
            </a:pPr>
            <a:r>
              <a:rPr sz="1800" b="1" i="0">
                <a:solidFill>
                  <a:srgbClr val="FFFFFF"/>
                </a:solidFill>
                <a:latin typeface="Cambria"/>
              </a:rPr>
              <a:t>So the categories Zepto needs for margin are the categories its interface is worst at selling. Fixing deliberation unlocks both problems at once.</a:t>
            </a:r>
          </a:p>
        </p:txBody>
      </p:sp>
      <p:sp>
        <p:nvSpPr>
          <p:cNvPr id="14" name="TextBox 13"/>
          <p:cNvSpPr txBox="1"/>
          <p:nvPr/>
        </p:nvSpPr>
        <p:spPr>
          <a:xfrm>
            <a:off x="566928" y="6345936"/>
            <a:ext cx="11064240" cy="365760"/>
          </a:xfrm>
          <a:prstGeom prst="rect">
            <a:avLst/>
          </a:prstGeom>
          <a:noFill/>
        </p:spPr>
        <p:txBody>
          <a:bodyPr wrap="square" lIns="0" rIns="0" tIns="0" bIns="0">
            <a:spAutoFit/>
          </a:bodyPr>
          <a:lstStyle/>
          <a:p>
            <a:pPr>
              <a:lnSpc>
                <a:spcPts val="1600"/>
              </a:lnSpc>
            </a:pPr>
            <a:r>
              <a:rPr sz="1400" b="0" i="0">
                <a:solidFill>
                  <a:srgbClr val="8C8A97"/>
                </a:solidFill>
                <a:latin typeface="Calibri"/>
              </a:rPr>
              <a:t>Zepto DRHP, July 2026 · quick-commerce category-mix forecasts from published market research. Links on the final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B2D90"/>
                </a:solidFill>
                <a:latin typeface="Calibri"/>
              </a:rPr>
              <a:t>PART 4 · THE MVP</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1C1526"/>
                </a:solidFill>
                <a:latin typeface="Cambria"/>
              </a:rPr>
              <a:t>First Buy: one observation, one question, one answer — in the cart, because that is where users said yes.</a:t>
            </a:r>
          </a:p>
        </p:txBody>
      </p:sp>
      <p:sp>
        <p:nvSpPr>
          <p:cNvPr id="4" name="Rounded Rectangle 3"/>
          <p:cNvSpPr/>
          <p:nvPr/>
        </p:nvSpPr>
        <p:spPr>
          <a:xfrm>
            <a:off x="566928" y="1755648"/>
            <a:ext cx="2788920" cy="4315968"/>
          </a:xfrm>
          <a:prstGeom prst="roundRect">
            <a:avLst>
              <a:gd name="adj" fmla="val 9000"/>
            </a:avLst>
          </a:prstGeom>
          <a:solidFill>
            <a:srgbClr val="1C1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685800" y="1874519"/>
            <a:ext cx="2551176" cy="4078224"/>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804672" y="2002536"/>
            <a:ext cx="2313432" cy="731520"/>
          </a:xfrm>
          <a:prstGeom prst="roundRect">
            <a:avLst>
              <a:gd name="adj" fmla="val 5500"/>
            </a:avLst>
          </a:prstGeom>
          <a:solidFill>
            <a:srgbClr val="5B2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2103120"/>
            <a:ext cx="2103120" cy="292608"/>
          </a:xfrm>
          <a:prstGeom prst="rect">
            <a:avLst/>
          </a:prstGeom>
          <a:noFill/>
        </p:spPr>
        <p:txBody>
          <a:bodyPr wrap="square" lIns="0" rIns="0" tIns="0" bIns="0">
            <a:spAutoFit/>
          </a:bodyPr>
          <a:lstStyle/>
          <a:p>
            <a:r>
              <a:rPr sz="1600" b="1" i="0">
                <a:solidFill>
                  <a:srgbClr val="FFFFFF"/>
                </a:solidFill>
                <a:latin typeface="Calibri"/>
              </a:rPr>
              <a:t>Your cart · 6 items</a:t>
            </a:r>
          </a:p>
        </p:txBody>
      </p:sp>
      <p:sp>
        <p:nvSpPr>
          <p:cNvPr id="8" name="TextBox 7"/>
          <p:cNvSpPr txBox="1"/>
          <p:nvPr/>
        </p:nvSpPr>
        <p:spPr>
          <a:xfrm>
            <a:off x="932688" y="2395728"/>
            <a:ext cx="2103120" cy="256032"/>
          </a:xfrm>
          <a:prstGeom prst="rect">
            <a:avLst/>
          </a:prstGeom>
          <a:noFill/>
        </p:spPr>
        <p:txBody>
          <a:bodyPr wrap="square" lIns="0" rIns="0" tIns="0" bIns="0">
            <a:spAutoFit/>
          </a:bodyPr>
          <a:lstStyle/>
          <a:p>
            <a:r>
              <a:rPr sz="1400" b="0" i="0">
                <a:solidFill>
                  <a:srgbClr val="D7CDE8"/>
                </a:solidFill>
                <a:latin typeface="Calibri"/>
              </a:rPr>
              <a:t>₹612 · arrives in ~10 min</a:t>
            </a:r>
          </a:p>
        </p:txBody>
      </p:sp>
      <p:sp>
        <p:nvSpPr>
          <p:cNvPr id="9" name="Rounded Rectangle 8"/>
          <p:cNvSpPr/>
          <p:nvPr/>
        </p:nvSpPr>
        <p:spPr>
          <a:xfrm>
            <a:off x="804672" y="2834640"/>
            <a:ext cx="2313432" cy="2926080"/>
          </a:xfrm>
          <a:prstGeom prst="roundRect">
            <a:avLst>
              <a:gd name="adj" fmla="val 5500"/>
            </a:avLst>
          </a:prstGeom>
          <a:solidFill>
            <a:srgbClr val="FBF9FE"/>
          </a:solidFill>
          <a:ln w="19050">
            <a:solidFill>
              <a:srgbClr val="5B2D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32688" y="2926080"/>
            <a:ext cx="2057400" cy="237744"/>
          </a:xfrm>
          <a:prstGeom prst="rect">
            <a:avLst/>
          </a:prstGeom>
          <a:noFill/>
        </p:spPr>
        <p:txBody>
          <a:bodyPr wrap="square" lIns="0" rIns="0" tIns="0" bIns="0">
            <a:spAutoFit/>
          </a:bodyPr>
          <a:lstStyle/>
          <a:p>
            <a:r>
              <a:rPr sz="1400" b="1" i="0" spc="100">
                <a:solidFill>
                  <a:srgbClr val="5B2D90"/>
                </a:solidFill>
                <a:latin typeface="Calibri"/>
              </a:rPr>
              <a:t>FIRST BUY</a:t>
            </a:r>
          </a:p>
        </p:txBody>
      </p:sp>
      <p:sp>
        <p:nvSpPr>
          <p:cNvPr id="11" name="TextBox 10"/>
          <p:cNvSpPr txBox="1"/>
          <p:nvPr/>
        </p:nvSpPr>
        <p:spPr>
          <a:xfrm>
            <a:off x="932688" y="3182112"/>
            <a:ext cx="2029968" cy="658368"/>
          </a:xfrm>
          <a:prstGeom prst="rect">
            <a:avLst/>
          </a:prstGeom>
          <a:noFill/>
        </p:spPr>
        <p:txBody>
          <a:bodyPr wrap="square" lIns="0" rIns="0" tIns="0" bIns="0">
            <a:spAutoFit/>
          </a:bodyPr>
          <a:lstStyle/>
          <a:p>
            <a:pPr>
              <a:lnSpc>
                <a:spcPts val="1600"/>
              </a:lnSpc>
            </a:pPr>
            <a:r>
              <a:rPr sz="1400" b="1" i="0">
                <a:solidFill>
                  <a:srgbClr val="1C1526"/>
                </a:solidFill>
                <a:latin typeface="Calibri"/>
              </a:rPr>
              <a:t>You've ordered from 7 categories in 90 days. Never sunscreen.</a:t>
            </a:r>
          </a:p>
        </p:txBody>
      </p:sp>
      <p:sp>
        <p:nvSpPr>
          <p:cNvPr id="12" name="Rounded Rectangle 11"/>
          <p:cNvSpPr/>
          <p:nvPr/>
        </p:nvSpPr>
        <p:spPr>
          <a:xfrm>
            <a:off x="932688" y="3895344"/>
            <a:ext cx="2057400" cy="384048"/>
          </a:xfrm>
          <a:prstGeom prst="roundRect">
            <a:avLst>
              <a:gd name="adj" fmla="val 5500"/>
            </a:avLst>
          </a:prstGeom>
          <a:solidFill>
            <a:srgbClr val="FFFFFF"/>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42415" y="3968496"/>
            <a:ext cx="1828800" cy="274320"/>
          </a:xfrm>
          <a:prstGeom prst="rect">
            <a:avLst/>
          </a:prstGeom>
          <a:noFill/>
        </p:spPr>
        <p:txBody>
          <a:bodyPr wrap="square" lIns="0" rIns="0" tIns="0" bIns="0">
            <a:spAutoFit/>
          </a:bodyPr>
          <a:lstStyle/>
          <a:p>
            <a:r>
              <a:rPr sz="1400" b="0" i="0">
                <a:solidFill>
                  <a:srgbClr val="1C1526"/>
                </a:solidFill>
                <a:latin typeface="Calibri"/>
              </a:rPr>
              <a:t>Oily, shiny by 4pm</a:t>
            </a:r>
          </a:p>
        </p:txBody>
      </p:sp>
      <p:sp>
        <p:nvSpPr>
          <p:cNvPr id="14" name="Rounded Rectangle 13"/>
          <p:cNvSpPr/>
          <p:nvPr/>
        </p:nvSpPr>
        <p:spPr>
          <a:xfrm>
            <a:off x="932688" y="4352544"/>
            <a:ext cx="2057400" cy="932688"/>
          </a:xfrm>
          <a:prstGeom prst="roundRect">
            <a:avLst>
              <a:gd name="adj" fmla="val 5500"/>
            </a:avLst>
          </a:prstGeom>
          <a:solidFill>
            <a:srgbClr val="F1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42415" y="4443984"/>
            <a:ext cx="1847088" cy="822960"/>
          </a:xfrm>
          <a:prstGeom prst="rect">
            <a:avLst/>
          </a:prstGeom>
          <a:noFill/>
        </p:spPr>
        <p:txBody>
          <a:bodyPr wrap="square" lIns="0" rIns="0" tIns="0" bIns="0">
            <a:spAutoFit/>
          </a:bodyPr>
          <a:lstStyle/>
          <a:p>
            <a:pPr>
              <a:lnSpc>
                <a:spcPts val="1500"/>
              </a:lnSpc>
            </a:pPr>
            <a:r>
              <a:rPr sz="1400" b="0" i="0">
                <a:solidFill>
                  <a:srgbClr val="1C1526"/>
                </a:solidFill>
                <a:latin typeface="Calibri"/>
              </a:rPr>
              <a:t>Most re-ordered by oily-skin buyers. Top complaint on the cheaper two: sticky.</a:t>
            </a:r>
          </a:p>
        </p:txBody>
      </p:sp>
      <p:sp>
        <p:nvSpPr>
          <p:cNvPr id="16" name="Rounded Rectangle 15"/>
          <p:cNvSpPr/>
          <p:nvPr/>
        </p:nvSpPr>
        <p:spPr>
          <a:xfrm>
            <a:off x="932688" y="5376672"/>
            <a:ext cx="2057400" cy="384048"/>
          </a:xfrm>
          <a:prstGeom prst="roundRect">
            <a:avLst>
              <a:gd name="adj" fmla="val 5500"/>
            </a:avLst>
          </a:prstGeom>
          <a:solidFill>
            <a:srgbClr val="5B2D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42415" y="5449824"/>
            <a:ext cx="1828800" cy="274320"/>
          </a:xfrm>
          <a:prstGeom prst="rect">
            <a:avLst/>
          </a:prstGeom>
          <a:noFill/>
        </p:spPr>
        <p:txBody>
          <a:bodyPr wrap="square" lIns="0" rIns="0" tIns="0" bIns="0">
            <a:spAutoFit/>
          </a:bodyPr>
          <a:lstStyle/>
          <a:p>
            <a:r>
              <a:rPr sz="1400" b="1" i="0">
                <a:solidFill>
                  <a:srgbClr val="FFFFFF"/>
                </a:solidFill>
                <a:latin typeface="Calibri"/>
              </a:rPr>
              <a:t>Add  ·  ₹449</a:t>
            </a:r>
          </a:p>
        </p:txBody>
      </p:sp>
      <p:sp>
        <p:nvSpPr>
          <p:cNvPr id="18" name="Rounded Rectangle 17"/>
          <p:cNvSpPr/>
          <p:nvPr/>
        </p:nvSpPr>
        <p:spPr>
          <a:xfrm>
            <a:off x="3584448" y="1755648"/>
            <a:ext cx="8028431" cy="98755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803904" y="1883664"/>
            <a:ext cx="1371600" cy="256032"/>
          </a:xfrm>
          <a:prstGeom prst="rect">
            <a:avLst/>
          </a:prstGeom>
          <a:noFill/>
        </p:spPr>
        <p:txBody>
          <a:bodyPr wrap="square" lIns="0" rIns="0" tIns="0" bIns="0">
            <a:spAutoFit/>
          </a:bodyPr>
          <a:lstStyle/>
          <a:p>
            <a:r>
              <a:rPr sz="1400" b="1" i="0" spc="100">
                <a:solidFill>
                  <a:srgbClr val="5B2D90"/>
                </a:solidFill>
                <a:latin typeface="Calibri"/>
              </a:rPr>
              <a:t>SURFACE</a:t>
            </a:r>
          </a:p>
        </p:txBody>
      </p:sp>
      <p:sp>
        <p:nvSpPr>
          <p:cNvPr id="20" name="TextBox 19"/>
          <p:cNvSpPr txBox="1"/>
          <p:nvPr/>
        </p:nvSpPr>
        <p:spPr>
          <a:xfrm>
            <a:off x="5230368" y="1865376"/>
            <a:ext cx="6172200" cy="292608"/>
          </a:xfrm>
          <a:prstGeom prst="rect">
            <a:avLst/>
          </a:prstGeom>
          <a:noFill/>
        </p:spPr>
        <p:txBody>
          <a:bodyPr wrap="square" lIns="0" rIns="0" tIns="0" bIns="0">
            <a:spAutoFit/>
          </a:bodyPr>
          <a:lstStyle/>
          <a:p>
            <a:r>
              <a:rPr sz="1500" b="1" i="0">
                <a:solidFill>
                  <a:srgbClr val="1C1526"/>
                </a:solidFill>
                <a:latin typeface="Calibri"/>
              </a:rPr>
              <a:t>The cart — and the interviews are why it moved there</a:t>
            </a:r>
          </a:p>
        </p:txBody>
      </p:sp>
      <p:sp>
        <p:nvSpPr>
          <p:cNvPr id="21" name="TextBox 20"/>
          <p:cNvSpPr txBox="1"/>
          <p:nvPr/>
        </p:nvSpPr>
        <p:spPr>
          <a:xfrm>
            <a:off x="5230368" y="2176272"/>
            <a:ext cx="6144768" cy="530352"/>
          </a:xfrm>
          <a:prstGeom prst="rect">
            <a:avLst/>
          </a:prstGeom>
          <a:noFill/>
        </p:spPr>
        <p:txBody>
          <a:bodyPr wrap="square" lIns="0" rIns="0" tIns="0" bIns="0">
            <a:spAutoFit/>
          </a:bodyPr>
          <a:lstStyle/>
          <a:p>
            <a:pPr>
              <a:lnSpc>
                <a:spcPts val="1500"/>
              </a:lnSpc>
            </a:pPr>
            <a:r>
              <a:rPr sz="1400" b="0" i="0">
                <a:solidFill>
                  <a:srgbClr val="605A70"/>
                </a:solidFill>
                <a:latin typeface="Calibri"/>
              </a:rPr>
              <a:t>I designed this for the post-payment tracking screen. No user gave me a reason to believe that works. Two had already converted via a checkout prompt, one asked for cart bundling by name, and nobody expanded by browsing.</a:t>
            </a:r>
          </a:p>
        </p:txBody>
      </p:sp>
      <p:sp>
        <p:nvSpPr>
          <p:cNvPr id="22" name="Rounded Rectangle 21"/>
          <p:cNvSpPr/>
          <p:nvPr/>
        </p:nvSpPr>
        <p:spPr>
          <a:xfrm>
            <a:off x="3584448" y="2852928"/>
            <a:ext cx="8028431" cy="98755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803904" y="2980944"/>
            <a:ext cx="1371600" cy="256032"/>
          </a:xfrm>
          <a:prstGeom prst="rect">
            <a:avLst/>
          </a:prstGeom>
          <a:noFill/>
        </p:spPr>
        <p:txBody>
          <a:bodyPr wrap="square" lIns="0" rIns="0" tIns="0" bIns="0">
            <a:spAutoFit/>
          </a:bodyPr>
          <a:lstStyle/>
          <a:p>
            <a:r>
              <a:rPr sz="1400" b="1" i="0" spc="100">
                <a:solidFill>
                  <a:srgbClr val="5B2D90"/>
                </a:solidFill>
                <a:latin typeface="Calibri"/>
              </a:rPr>
              <a:t>TRIGGER</a:t>
            </a:r>
          </a:p>
        </p:txBody>
      </p:sp>
      <p:sp>
        <p:nvSpPr>
          <p:cNvPr id="24" name="TextBox 23"/>
          <p:cNvSpPr txBox="1"/>
          <p:nvPr/>
        </p:nvSpPr>
        <p:spPr>
          <a:xfrm>
            <a:off x="5230368" y="2962656"/>
            <a:ext cx="6172200" cy="292608"/>
          </a:xfrm>
          <a:prstGeom prst="rect">
            <a:avLst/>
          </a:prstGeom>
          <a:noFill/>
        </p:spPr>
        <p:txBody>
          <a:bodyPr wrap="square" lIns="0" rIns="0" tIns="0" bIns="0">
            <a:spAutoFit/>
          </a:bodyPr>
          <a:lstStyle/>
          <a:p>
            <a:r>
              <a:rPr sz="1500" b="1" i="0">
                <a:solidFill>
                  <a:srgbClr val="1C1526"/>
                </a:solidFill>
                <a:latin typeface="Calibri"/>
              </a:rPr>
              <a:t>An observation about their own behaviour, not a recommendation</a:t>
            </a:r>
          </a:p>
        </p:txBody>
      </p:sp>
      <p:sp>
        <p:nvSpPr>
          <p:cNvPr id="25" name="TextBox 24"/>
          <p:cNvSpPr txBox="1"/>
          <p:nvPr/>
        </p:nvSpPr>
        <p:spPr>
          <a:xfrm>
            <a:off x="5230368" y="3273552"/>
            <a:ext cx="6144768" cy="530352"/>
          </a:xfrm>
          <a:prstGeom prst="rect">
            <a:avLst/>
          </a:prstGeom>
          <a:noFill/>
        </p:spPr>
        <p:txBody>
          <a:bodyPr wrap="square" lIns="0" rIns="0" tIns="0" bIns="0">
            <a:spAutoFit/>
          </a:bodyPr>
          <a:lstStyle/>
          <a:p>
            <a:pPr>
              <a:lnSpc>
                <a:spcPts val="1500"/>
              </a:lnSpc>
            </a:pPr>
            <a:r>
              <a:rPr sz="1400" b="0" i="0">
                <a:solidFill>
                  <a:srgbClr val="605A70"/>
                </a:solidFill>
                <a:latin typeface="Calibri"/>
              </a:rPr>
              <a:t>“You've ordered cereal and milk 21 times, never fruit.” Specific and checkable, so it reads as the app noticing rather than the app advertising.</a:t>
            </a:r>
          </a:p>
        </p:txBody>
      </p:sp>
      <p:sp>
        <p:nvSpPr>
          <p:cNvPr id="26" name="Rounded Rectangle 25"/>
          <p:cNvSpPr/>
          <p:nvPr/>
        </p:nvSpPr>
        <p:spPr>
          <a:xfrm>
            <a:off x="3584448" y="3950208"/>
            <a:ext cx="8028431" cy="98755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803904" y="4078224"/>
            <a:ext cx="1371600" cy="256032"/>
          </a:xfrm>
          <a:prstGeom prst="rect">
            <a:avLst/>
          </a:prstGeom>
          <a:noFill/>
        </p:spPr>
        <p:txBody>
          <a:bodyPr wrap="square" lIns="0" rIns="0" tIns="0" bIns="0">
            <a:spAutoFit/>
          </a:bodyPr>
          <a:lstStyle/>
          <a:p>
            <a:r>
              <a:rPr sz="1400" b="1" i="0" spc="100">
                <a:solidFill>
                  <a:srgbClr val="5B2D90"/>
                </a:solidFill>
                <a:latin typeface="Calibri"/>
              </a:rPr>
              <a:t>RESOLUTION</a:t>
            </a:r>
          </a:p>
        </p:txBody>
      </p:sp>
      <p:sp>
        <p:nvSpPr>
          <p:cNvPr id="28" name="TextBox 27"/>
          <p:cNvSpPr txBox="1"/>
          <p:nvPr/>
        </p:nvSpPr>
        <p:spPr>
          <a:xfrm>
            <a:off x="5230368" y="4059936"/>
            <a:ext cx="6172200" cy="292608"/>
          </a:xfrm>
          <a:prstGeom prst="rect">
            <a:avLst/>
          </a:prstGeom>
          <a:noFill/>
        </p:spPr>
        <p:txBody>
          <a:bodyPr wrap="square" lIns="0" rIns="0" tIns="0" bIns="0">
            <a:spAutoFit/>
          </a:bodyPr>
          <a:lstStyle/>
          <a:p>
            <a:r>
              <a:rPr sz="1500" b="1" i="0">
                <a:solidFill>
                  <a:srgbClr val="1C1526"/>
                </a:solidFill>
                <a:latin typeface="Calibri"/>
              </a:rPr>
              <a:t>One question, then one product — carrying what the PDP is missing</a:t>
            </a:r>
          </a:p>
        </p:txBody>
      </p:sp>
      <p:sp>
        <p:nvSpPr>
          <p:cNvPr id="29" name="TextBox 28"/>
          <p:cNvSpPr txBox="1"/>
          <p:nvPr/>
        </p:nvSpPr>
        <p:spPr>
          <a:xfrm>
            <a:off x="5230368" y="4370832"/>
            <a:ext cx="6144768" cy="530352"/>
          </a:xfrm>
          <a:prstGeom prst="rect">
            <a:avLst/>
          </a:prstGeom>
          <a:noFill/>
        </p:spPr>
        <p:txBody>
          <a:bodyPr wrap="square" lIns="0" rIns="0" tIns="0" bIns="0">
            <a:spAutoFit/>
          </a:bodyPr>
          <a:lstStyle/>
          <a:p>
            <a:pPr>
              <a:lnSpc>
                <a:spcPts val="1500"/>
              </a:lnSpc>
            </a:pPr>
            <a:r>
              <a:rPr sz="1400" b="0" i="0">
                <a:solidFill>
                  <a:srgbClr val="605A70"/>
                </a:solidFill>
                <a:latin typeface="Calibri"/>
              </a:rPr>
              <a:t>Users named the gap precisely: verified reviews, real photos, dimensions, seller verification, ingredients. So the card carries a rating summary, one reason from mined review language, and the top objection pre-handled.</a:t>
            </a:r>
          </a:p>
        </p:txBody>
      </p:sp>
      <p:sp>
        <p:nvSpPr>
          <p:cNvPr id="30" name="Rounded Rectangle 29"/>
          <p:cNvSpPr/>
          <p:nvPr/>
        </p:nvSpPr>
        <p:spPr>
          <a:xfrm>
            <a:off x="3584448" y="5047488"/>
            <a:ext cx="8028431" cy="987552"/>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803904" y="5175503"/>
            <a:ext cx="1371600" cy="256032"/>
          </a:xfrm>
          <a:prstGeom prst="rect">
            <a:avLst/>
          </a:prstGeom>
          <a:noFill/>
        </p:spPr>
        <p:txBody>
          <a:bodyPr wrap="square" lIns="0" rIns="0" tIns="0" bIns="0">
            <a:spAutoFit/>
          </a:bodyPr>
          <a:lstStyle/>
          <a:p>
            <a:r>
              <a:rPr sz="1400" b="1" i="0" spc="100">
                <a:solidFill>
                  <a:srgbClr val="5B2D90"/>
                </a:solidFill>
                <a:latin typeface="Calibri"/>
              </a:rPr>
              <a:t>DE-RISK</a:t>
            </a:r>
          </a:p>
        </p:txBody>
      </p:sp>
      <p:sp>
        <p:nvSpPr>
          <p:cNvPr id="32" name="TextBox 31"/>
          <p:cNvSpPr txBox="1"/>
          <p:nvPr/>
        </p:nvSpPr>
        <p:spPr>
          <a:xfrm>
            <a:off x="5230368" y="5157216"/>
            <a:ext cx="6172200" cy="292608"/>
          </a:xfrm>
          <a:prstGeom prst="rect">
            <a:avLst/>
          </a:prstGeom>
          <a:noFill/>
        </p:spPr>
        <p:txBody>
          <a:bodyPr wrap="square" lIns="0" rIns="0" tIns="0" bIns="0">
            <a:spAutoFit/>
          </a:bodyPr>
          <a:lstStyle/>
          <a:p>
            <a:r>
              <a:rPr sz="1500" b="1" i="0">
                <a:solidFill>
                  <a:srgbClr val="1C1526"/>
                </a:solidFill>
                <a:latin typeface="Calibri"/>
              </a:rPr>
              <a:t>Free return on the first buy in any new category</a:t>
            </a:r>
          </a:p>
        </p:txBody>
      </p:sp>
      <p:sp>
        <p:nvSpPr>
          <p:cNvPr id="33" name="TextBox 32"/>
          <p:cNvSpPr txBox="1"/>
          <p:nvPr/>
        </p:nvSpPr>
        <p:spPr>
          <a:xfrm>
            <a:off x="5230368" y="5468112"/>
            <a:ext cx="6144768" cy="530352"/>
          </a:xfrm>
          <a:prstGeom prst="rect">
            <a:avLst/>
          </a:prstGeom>
          <a:noFill/>
        </p:spPr>
        <p:txBody>
          <a:bodyPr wrap="square" lIns="0" rIns="0" tIns="0" bIns="0">
            <a:spAutoFit/>
          </a:bodyPr>
          <a:lstStyle/>
          <a:p>
            <a:pPr>
              <a:lnSpc>
                <a:spcPts val="1500"/>
              </a:lnSpc>
            </a:pPr>
            <a:r>
              <a:rPr sz="1400" b="0" i="0">
                <a:solidFill>
                  <a:srgbClr val="605A70"/>
                </a:solidFill>
                <a:latin typeface="Calibri"/>
              </a:rPr>
              <a:t>Attacks the risk structurally rather than with a discount. Cheaper per conversion, and it does not train users to wait for coupons.</a:t>
            </a:r>
          </a:p>
        </p:txBody>
      </p:sp>
      <p:sp>
        <p:nvSpPr>
          <p:cNvPr id="34" name="TextBox 33"/>
          <p:cNvSpPr txBox="1"/>
          <p:nvPr/>
        </p:nvSpPr>
        <p:spPr>
          <a:xfrm>
            <a:off x="566928" y="6345936"/>
            <a:ext cx="11064240" cy="365760"/>
          </a:xfrm>
          <a:prstGeom prst="rect">
            <a:avLst/>
          </a:prstGeom>
          <a:noFill/>
        </p:spPr>
        <p:txBody>
          <a:bodyPr wrap="square" lIns="0" rIns="0" tIns="0" bIns="0">
            <a:spAutoFit/>
          </a:bodyPr>
          <a:lstStyle/>
          <a:p>
            <a:pPr>
              <a:lnSpc>
                <a:spcPts val="1600"/>
              </a:lnSpc>
            </a:pPr>
            <a:r>
              <a:rPr sz="1400" b="0" i="0">
                <a:solidFill>
                  <a:srgbClr val="605A70"/>
                </a:solidFill>
                <a:latin typeface="Calibri"/>
              </a:rPr>
              <a:t>Ranking is not the bottleneck — collaborative filtering solved that years ago. Justification is. That is the generative problem, and it is fed by the corpus that diagnosed the barrier.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B2D90"/>
                </a:solidFill>
                <a:latin typeface="Calibri"/>
              </a:rPr>
              <a:t>MEASUREMENT</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1C1526"/>
                </a:solidFill>
                <a:latin typeface="Cambria"/>
              </a:rPr>
              <a:t>How I would know it worked — including the one metric that could prove it did not.</a:t>
            </a:r>
          </a:p>
        </p:txBody>
      </p:sp>
      <p:sp>
        <p:nvSpPr>
          <p:cNvPr id="4" name="Rounded Rectangle 3"/>
          <p:cNvSpPr/>
          <p:nvPr/>
        </p:nvSpPr>
        <p:spPr>
          <a:xfrm>
            <a:off x="566928" y="1783080"/>
            <a:ext cx="11045952" cy="649224"/>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975104"/>
            <a:ext cx="1280160" cy="292608"/>
          </a:xfrm>
          <a:prstGeom prst="rect">
            <a:avLst/>
          </a:prstGeom>
          <a:noFill/>
        </p:spPr>
        <p:txBody>
          <a:bodyPr wrap="square" lIns="0" rIns="0" tIns="0" bIns="0">
            <a:spAutoFit/>
          </a:bodyPr>
          <a:lstStyle/>
          <a:p>
            <a:r>
              <a:rPr sz="1400" b="1" i="0">
                <a:solidFill>
                  <a:srgbClr val="5B2D90"/>
                </a:solidFill>
                <a:latin typeface="Calibri"/>
              </a:rPr>
              <a:t>North star</a:t>
            </a:r>
          </a:p>
        </p:txBody>
      </p:sp>
      <p:sp>
        <p:nvSpPr>
          <p:cNvPr id="6" name="TextBox 5"/>
          <p:cNvSpPr txBox="1"/>
          <p:nvPr/>
        </p:nvSpPr>
        <p:spPr>
          <a:xfrm>
            <a:off x="2103120" y="1965960"/>
            <a:ext cx="3840480" cy="402336"/>
          </a:xfrm>
          <a:prstGeom prst="rect">
            <a:avLst/>
          </a:prstGeom>
          <a:noFill/>
        </p:spPr>
        <p:txBody>
          <a:bodyPr wrap="square" lIns="0" rIns="0" tIns="0" bIns="0">
            <a:spAutoFit/>
          </a:bodyPr>
          <a:lstStyle/>
          <a:p>
            <a:r>
              <a:rPr sz="1500" b="1" i="0">
                <a:solidFill>
                  <a:srgbClr val="1C1526"/>
                </a:solidFill>
                <a:latin typeface="Calibri"/>
              </a:rPr>
              <a:t>% of MAC buying from ≥1 new category per month</a:t>
            </a:r>
          </a:p>
        </p:txBody>
      </p:sp>
      <p:sp>
        <p:nvSpPr>
          <p:cNvPr id="7" name="TextBox 6"/>
          <p:cNvSpPr txBox="1"/>
          <p:nvPr/>
        </p:nvSpPr>
        <p:spPr>
          <a:xfrm>
            <a:off x="6053328" y="1883664"/>
            <a:ext cx="5349240" cy="548640"/>
          </a:xfrm>
          <a:prstGeom prst="rect">
            <a:avLst/>
          </a:prstGeom>
          <a:noFill/>
        </p:spPr>
        <p:txBody>
          <a:bodyPr wrap="square" lIns="0" rIns="0" tIns="0" bIns="0">
            <a:spAutoFit/>
          </a:bodyPr>
          <a:lstStyle/>
          <a:p>
            <a:pPr>
              <a:lnSpc>
                <a:spcPts val="1500"/>
              </a:lnSpc>
            </a:pPr>
            <a:r>
              <a:rPr sz="1400" b="0" i="0">
                <a:solidFill>
                  <a:srgbClr val="605A70"/>
                </a:solidFill>
                <a:latin typeface="Calibri"/>
              </a:rPr>
              <a:t>The stated goal. Needs two monthly cycles, so it reads as directional at four weeks.</a:t>
            </a:r>
          </a:p>
        </p:txBody>
      </p:sp>
      <p:sp>
        <p:nvSpPr>
          <p:cNvPr id="8" name="Rounded Rectangle 7"/>
          <p:cNvSpPr/>
          <p:nvPr/>
        </p:nvSpPr>
        <p:spPr>
          <a:xfrm>
            <a:off x="566928" y="2505456"/>
            <a:ext cx="11045952" cy="649224"/>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2697480"/>
            <a:ext cx="1280160" cy="292608"/>
          </a:xfrm>
          <a:prstGeom prst="rect">
            <a:avLst/>
          </a:prstGeom>
          <a:noFill/>
        </p:spPr>
        <p:txBody>
          <a:bodyPr wrap="square" lIns="0" rIns="0" tIns="0" bIns="0">
            <a:spAutoFit/>
          </a:bodyPr>
          <a:lstStyle/>
          <a:p>
            <a:r>
              <a:rPr sz="1400" b="1" i="0">
                <a:solidFill>
                  <a:srgbClr val="0072B2"/>
                </a:solidFill>
                <a:latin typeface="Calibri"/>
              </a:rPr>
              <a:t>Primary</a:t>
            </a:r>
          </a:p>
        </p:txBody>
      </p:sp>
      <p:sp>
        <p:nvSpPr>
          <p:cNvPr id="10" name="TextBox 9"/>
          <p:cNvSpPr txBox="1"/>
          <p:nvPr/>
        </p:nvSpPr>
        <p:spPr>
          <a:xfrm>
            <a:off x="2103120" y="2688336"/>
            <a:ext cx="3840480" cy="402336"/>
          </a:xfrm>
          <a:prstGeom prst="rect">
            <a:avLst/>
          </a:prstGeom>
          <a:noFill/>
        </p:spPr>
        <p:txBody>
          <a:bodyPr wrap="square" lIns="0" rIns="0" tIns="0" bIns="0">
            <a:spAutoFit/>
          </a:bodyPr>
          <a:lstStyle/>
          <a:p>
            <a:r>
              <a:rPr sz="1500" b="1" i="0">
                <a:solidFill>
                  <a:srgbClr val="1C1526"/>
                </a:solidFill>
                <a:latin typeface="Calibri"/>
              </a:rPr>
              <a:t>New-category purchases per 1,000 cart-card impressions</a:t>
            </a:r>
          </a:p>
        </p:txBody>
      </p:sp>
      <p:sp>
        <p:nvSpPr>
          <p:cNvPr id="11" name="TextBox 10"/>
          <p:cNvSpPr txBox="1"/>
          <p:nvPr/>
        </p:nvSpPr>
        <p:spPr>
          <a:xfrm>
            <a:off x="6053328" y="2606040"/>
            <a:ext cx="5349240" cy="548640"/>
          </a:xfrm>
          <a:prstGeom prst="rect">
            <a:avLst/>
          </a:prstGeom>
          <a:noFill/>
        </p:spPr>
        <p:txBody>
          <a:bodyPr wrap="square" lIns="0" rIns="0" tIns="0" bIns="0">
            <a:spAutoFit/>
          </a:bodyPr>
          <a:lstStyle/>
          <a:p>
            <a:pPr>
              <a:lnSpc>
                <a:spcPts val="1500"/>
              </a:lnSpc>
            </a:pPr>
            <a:r>
              <a:rPr sz="1400" b="0" i="0">
                <a:solidFill>
                  <a:srgbClr val="605A70"/>
                </a:solidFill>
                <a:latin typeface="Calibri"/>
              </a:rPr>
              <a:t>What the experiment is actually powered on.</a:t>
            </a:r>
          </a:p>
        </p:txBody>
      </p:sp>
      <p:sp>
        <p:nvSpPr>
          <p:cNvPr id="12" name="Rounded Rectangle 11"/>
          <p:cNvSpPr/>
          <p:nvPr/>
        </p:nvSpPr>
        <p:spPr>
          <a:xfrm>
            <a:off x="566928" y="3227832"/>
            <a:ext cx="11045952" cy="649224"/>
          </a:xfrm>
          <a:prstGeom prst="roundRect">
            <a:avLst>
              <a:gd name="adj" fmla="val 5500"/>
            </a:avLst>
          </a:prstGeom>
          <a:solidFill>
            <a:srgbClr val="FDF6E8"/>
          </a:solidFill>
          <a:ln w="9525">
            <a:solidFill>
              <a:srgbClr val="F0E0B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 y="3419856"/>
            <a:ext cx="1280160" cy="292608"/>
          </a:xfrm>
          <a:prstGeom prst="rect">
            <a:avLst/>
          </a:prstGeom>
          <a:noFill/>
        </p:spPr>
        <p:txBody>
          <a:bodyPr wrap="square" lIns="0" rIns="0" tIns="0" bIns="0">
            <a:spAutoFit/>
          </a:bodyPr>
          <a:lstStyle/>
          <a:p>
            <a:r>
              <a:rPr sz="1400" b="1" i="0">
                <a:solidFill>
                  <a:srgbClr val="E69F00"/>
                </a:solidFill>
                <a:latin typeface="Calibri"/>
              </a:rPr>
              <a:t>Secondary</a:t>
            </a:r>
          </a:p>
        </p:txBody>
      </p:sp>
      <p:sp>
        <p:nvSpPr>
          <p:cNvPr id="14" name="TextBox 13"/>
          <p:cNvSpPr txBox="1"/>
          <p:nvPr/>
        </p:nvSpPr>
        <p:spPr>
          <a:xfrm>
            <a:off x="2103120" y="3410712"/>
            <a:ext cx="3840480" cy="402336"/>
          </a:xfrm>
          <a:prstGeom prst="rect">
            <a:avLst/>
          </a:prstGeom>
          <a:noFill/>
        </p:spPr>
        <p:txBody>
          <a:bodyPr wrap="square" lIns="0" rIns="0" tIns="0" bIns="0">
            <a:spAutoFit/>
          </a:bodyPr>
          <a:lstStyle/>
          <a:p>
            <a:r>
              <a:rPr sz="1500" b="1" i="0">
                <a:solidFill>
                  <a:srgbClr val="1C1526"/>
                </a:solidFill>
                <a:latin typeface="Calibri"/>
              </a:rPr>
              <a:t>30-day repeat rate within the newly entered category</a:t>
            </a:r>
          </a:p>
        </p:txBody>
      </p:sp>
      <p:sp>
        <p:nvSpPr>
          <p:cNvPr id="15" name="TextBox 14"/>
          <p:cNvSpPr txBox="1"/>
          <p:nvPr/>
        </p:nvSpPr>
        <p:spPr>
          <a:xfrm>
            <a:off x="6053328" y="3328416"/>
            <a:ext cx="5349240" cy="548640"/>
          </a:xfrm>
          <a:prstGeom prst="rect">
            <a:avLst/>
          </a:prstGeom>
          <a:noFill/>
        </p:spPr>
        <p:txBody>
          <a:bodyPr wrap="square" lIns="0" rIns="0" tIns="0" bIns="0">
            <a:spAutoFit/>
          </a:bodyPr>
          <a:lstStyle/>
          <a:p>
            <a:pPr>
              <a:lnSpc>
                <a:spcPts val="1500"/>
              </a:lnSpc>
            </a:pPr>
            <a:r>
              <a:rPr sz="1400" b="0" i="0">
                <a:solidFill>
                  <a:srgbClr val="605A70"/>
                </a:solidFill>
                <a:latin typeface="Calibri"/>
              </a:rPr>
              <a:t>Separates behaviour change from a novelty transaction. Buy sunscreen once and never again and this made a sale, not a habit.</a:t>
            </a:r>
          </a:p>
        </p:txBody>
      </p:sp>
      <p:sp>
        <p:nvSpPr>
          <p:cNvPr id="16" name="Rounded Rectangle 15"/>
          <p:cNvSpPr/>
          <p:nvPr/>
        </p:nvSpPr>
        <p:spPr>
          <a:xfrm>
            <a:off x="566928" y="3950208"/>
            <a:ext cx="11045952" cy="649224"/>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6384" y="4142232"/>
            <a:ext cx="1280160" cy="292608"/>
          </a:xfrm>
          <a:prstGeom prst="rect">
            <a:avLst/>
          </a:prstGeom>
          <a:noFill/>
        </p:spPr>
        <p:txBody>
          <a:bodyPr wrap="square" lIns="0" rIns="0" tIns="0" bIns="0">
            <a:spAutoFit/>
          </a:bodyPr>
          <a:lstStyle/>
          <a:p>
            <a:r>
              <a:rPr sz="1400" b="1" i="0">
                <a:solidFill>
                  <a:srgbClr val="8C8A97"/>
                </a:solidFill>
                <a:latin typeface="Calibri"/>
              </a:rPr>
              <a:t>Guardrail</a:t>
            </a:r>
          </a:p>
        </p:txBody>
      </p:sp>
      <p:sp>
        <p:nvSpPr>
          <p:cNvPr id="18" name="TextBox 17"/>
          <p:cNvSpPr txBox="1"/>
          <p:nvPr/>
        </p:nvSpPr>
        <p:spPr>
          <a:xfrm>
            <a:off x="2103120" y="4133088"/>
            <a:ext cx="3840480" cy="402336"/>
          </a:xfrm>
          <a:prstGeom prst="rect">
            <a:avLst/>
          </a:prstGeom>
          <a:noFill/>
        </p:spPr>
        <p:txBody>
          <a:bodyPr wrap="square" lIns="0" rIns="0" tIns="0" bIns="0">
            <a:spAutoFit/>
          </a:bodyPr>
          <a:lstStyle/>
          <a:p>
            <a:r>
              <a:rPr sz="1500" b="1" i="0">
                <a:solidFill>
                  <a:srgbClr val="1C1526"/>
                </a:solidFill>
                <a:latin typeface="Calibri"/>
              </a:rPr>
              <a:t>Return rate on First Buy items</a:t>
            </a:r>
          </a:p>
        </p:txBody>
      </p:sp>
      <p:sp>
        <p:nvSpPr>
          <p:cNvPr id="19" name="TextBox 18"/>
          <p:cNvSpPr txBox="1"/>
          <p:nvPr/>
        </p:nvSpPr>
        <p:spPr>
          <a:xfrm>
            <a:off x="6053328" y="4050792"/>
            <a:ext cx="5349240" cy="548640"/>
          </a:xfrm>
          <a:prstGeom prst="rect">
            <a:avLst/>
          </a:prstGeom>
          <a:noFill/>
        </p:spPr>
        <p:txBody>
          <a:bodyPr wrap="square" lIns="0" rIns="0" tIns="0" bIns="0">
            <a:spAutoFit/>
          </a:bodyPr>
          <a:lstStyle/>
          <a:p>
            <a:pPr>
              <a:lnSpc>
                <a:spcPts val="1500"/>
              </a:lnSpc>
            </a:pPr>
            <a:r>
              <a:rPr sz="1400" b="0" i="0">
                <a:solidFill>
                  <a:srgbClr val="605A70"/>
                </a:solidFill>
                <a:latin typeface="Calibri"/>
              </a:rPr>
              <a:t>Free returns must not quietly become a loss centre.</a:t>
            </a:r>
          </a:p>
        </p:txBody>
      </p:sp>
      <p:sp>
        <p:nvSpPr>
          <p:cNvPr id="20" name="Rounded Rectangle 19"/>
          <p:cNvSpPr/>
          <p:nvPr/>
        </p:nvSpPr>
        <p:spPr>
          <a:xfrm>
            <a:off x="566928" y="4672584"/>
            <a:ext cx="11045952" cy="649224"/>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4864608"/>
            <a:ext cx="1280160" cy="292608"/>
          </a:xfrm>
          <a:prstGeom prst="rect">
            <a:avLst/>
          </a:prstGeom>
          <a:noFill/>
        </p:spPr>
        <p:txBody>
          <a:bodyPr wrap="square" lIns="0" rIns="0" tIns="0" bIns="0">
            <a:spAutoFit/>
          </a:bodyPr>
          <a:lstStyle/>
          <a:p>
            <a:r>
              <a:rPr sz="1400" b="1" i="0">
                <a:solidFill>
                  <a:srgbClr val="8C8A97"/>
                </a:solidFill>
                <a:latin typeface="Calibri"/>
              </a:rPr>
              <a:t>Guardrail</a:t>
            </a:r>
          </a:p>
        </p:txBody>
      </p:sp>
      <p:sp>
        <p:nvSpPr>
          <p:cNvPr id="22" name="TextBox 21"/>
          <p:cNvSpPr txBox="1"/>
          <p:nvPr/>
        </p:nvSpPr>
        <p:spPr>
          <a:xfrm>
            <a:off x="2103120" y="4855464"/>
            <a:ext cx="3840480" cy="402336"/>
          </a:xfrm>
          <a:prstGeom prst="rect">
            <a:avLst/>
          </a:prstGeom>
          <a:noFill/>
        </p:spPr>
        <p:txBody>
          <a:bodyPr wrap="square" lIns="0" rIns="0" tIns="0" bIns="0">
            <a:spAutoFit/>
          </a:bodyPr>
          <a:lstStyle/>
          <a:p>
            <a:r>
              <a:rPr sz="1500" b="1" i="0">
                <a:solidFill>
                  <a:srgbClr val="1C1526"/>
                </a:solidFill>
                <a:latin typeface="Calibri"/>
              </a:rPr>
              <a:t>Cart-to-order conversion</a:t>
            </a:r>
          </a:p>
        </p:txBody>
      </p:sp>
      <p:sp>
        <p:nvSpPr>
          <p:cNvPr id="23" name="TextBox 22"/>
          <p:cNvSpPr txBox="1"/>
          <p:nvPr/>
        </p:nvSpPr>
        <p:spPr>
          <a:xfrm>
            <a:off x="6053328" y="4773168"/>
            <a:ext cx="5349240" cy="548640"/>
          </a:xfrm>
          <a:prstGeom prst="rect">
            <a:avLst/>
          </a:prstGeom>
          <a:noFill/>
        </p:spPr>
        <p:txBody>
          <a:bodyPr wrap="square" lIns="0" rIns="0" tIns="0" bIns="0">
            <a:spAutoFit/>
          </a:bodyPr>
          <a:lstStyle/>
          <a:p>
            <a:pPr>
              <a:lnSpc>
                <a:spcPts val="1500"/>
              </a:lnSpc>
            </a:pPr>
            <a:r>
              <a:rPr sz="1400" b="0" i="0">
                <a:solidFill>
                  <a:srgbClr val="605A70"/>
                </a:solidFill>
                <a:latin typeface="Calibri"/>
              </a:rPr>
              <a:t>The hard one. A card in the cart must never cost an order that was already converting.</a:t>
            </a:r>
          </a:p>
        </p:txBody>
      </p:sp>
      <p:sp>
        <p:nvSpPr>
          <p:cNvPr id="24" name="Rounded Rectangle 23"/>
          <p:cNvSpPr/>
          <p:nvPr/>
        </p:nvSpPr>
        <p:spPr>
          <a:xfrm>
            <a:off x="566928" y="5394960"/>
            <a:ext cx="11045952" cy="649224"/>
          </a:xfrm>
          <a:prstGeom prst="roundRect">
            <a:avLst>
              <a:gd name="adj" fmla="val 5500"/>
            </a:avLst>
          </a:prstGeom>
          <a:solidFill>
            <a:srgbClr val="F7F5FB"/>
          </a:solidFill>
          <a:ln w="9525">
            <a:solidFill>
              <a:srgbClr val="E3DFE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6384" y="5586984"/>
            <a:ext cx="1280160" cy="292608"/>
          </a:xfrm>
          <a:prstGeom prst="rect">
            <a:avLst/>
          </a:prstGeom>
          <a:noFill/>
        </p:spPr>
        <p:txBody>
          <a:bodyPr wrap="square" lIns="0" rIns="0" tIns="0" bIns="0">
            <a:spAutoFit/>
          </a:bodyPr>
          <a:lstStyle/>
          <a:p>
            <a:r>
              <a:rPr sz="1400" b="1" i="0">
                <a:solidFill>
                  <a:srgbClr val="8C8A97"/>
                </a:solidFill>
                <a:latin typeface="Calibri"/>
              </a:rPr>
              <a:t>Guardrail</a:t>
            </a:r>
          </a:p>
        </p:txBody>
      </p:sp>
      <p:sp>
        <p:nvSpPr>
          <p:cNvPr id="26" name="TextBox 25"/>
          <p:cNvSpPr txBox="1"/>
          <p:nvPr/>
        </p:nvSpPr>
        <p:spPr>
          <a:xfrm>
            <a:off x="2103120" y="5577840"/>
            <a:ext cx="3840480" cy="402336"/>
          </a:xfrm>
          <a:prstGeom prst="rect">
            <a:avLst/>
          </a:prstGeom>
          <a:noFill/>
        </p:spPr>
        <p:txBody>
          <a:bodyPr wrap="square" lIns="0" rIns="0" tIns="0" bIns="0">
            <a:spAutoFit/>
          </a:bodyPr>
          <a:lstStyle/>
          <a:p>
            <a:r>
              <a:rPr sz="1500" b="1" i="0">
                <a:solidFill>
                  <a:srgbClr val="1C1526"/>
                </a:solidFill>
                <a:latin typeface="Calibri"/>
              </a:rPr>
              <a:t>Card dismiss rate</a:t>
            </a:r>
          </a:p>
        </p:txBody>
      </p:sp>
      <p:sp>
        <p:nvSpPr>
          <p:cNvPr id="27" name="TextBox 26"/>
          <p:cNvSpPr txBox="1"/>
          <p:nvPr/>
        </p:nvSpPr>
        <p:spPr>
          <a:xfrm>
            <a:off x="6053328" y="5495544"/>
            <a:ext cx="5349240" cy="548640"/>
          </a:xfrm>
          <a:prstGeom prst="rect">
            <a:avLst/>
          </a:prstGeom>
          <a:noFill/>
        </p:spPr>
        <p:txBody>
          <a:bodyPr wrap="square" lIns="0" rIns="0" tIns="0" bIns="0">
            <a:spAutoFit/>
          </a:bodyPr>
          <a:lstStyle/>
          <a:p>
            <a:pPr>
              <a:lnSpc>
                <a:spcPts val="1500"/>
              </a:lnSpc>
            </a:pPr>
            <a:r>
              <a:rPr sz="1400" b="0" i="0">
                <a:solidFill>
                  <a:srgbClr val="605A70"/>
                </a:solidFill>
                <a:latin typeface="Calibri"/>
              </a:rPr>
              <a:t>An annoyance signal, and the trigger for the frequency cap.</a:t>
            </a:r>
          </a:p>
        </p:txBody>
      </p:sp>
      <p:sp>
        <p:nvSpPr>
          <p:cNvPr id="28" name="TextBox 27"/>
          <p:cNvSpPr txBox="1"/>
          <p:nvPr/>
        </p:nvSpPr>
        <p:spPr>
          <a:xfrm>
            <a:off x="566928" y="6108192"/>
            <a:ext cx="11045952" cy="548640"/>
          </a:xfrm>
          <a:prstGeom prst="rect">
            <a:avLst/>
          </a:prstGeom>
          <a:noFill/>
        </p:spPr>
        <p:txBody>
          <a:bodyPr wrap="square" lIns="0" rIns="0" tIns="0" bIns="0">
            <a:spAutoFit/>
          </a:bodyPr>
          <a:lstStyle/>
          <a:p>
            <a:pPr>
              <a:lnSpc>
                <a:spcPts val="1700"/>
              </a:lnSpc>
            </a:pPr>
            <a:r>
              <a:rPr sz="1400" b="0" i="0">
                <a:solidFill>
                  <a:srgbClr val="1C1526"/>
                </a:solidFill>
                <a:latin typeface="Calibri"/>
              </a:rPr>
              <a:t>Experiment: geo-split A/B on the Plateaued Regular cohort, four weeks, powered on the primary metric. Stopping rule set in advance — if cart-to-order conversion drops beyond the pre-agreed margin, the test ends early regardless of how the primary metric is doing.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3B1F5C"/>
        </a:solidFill>
        <a:effectLst/>
      </p:bgPr>
    </p:bg>
    <p:spTree>
      <p:nvGrpSpPr>
        <p:cNvPr id="1" name=""/>
        <p:cNvGrpSpPr/>
        <p:nvPr/>
      </p:nvGrpSpPr>
      <p:grpSpPr/>
      <p:sp>
        <p:nvSpPr>
          <p:cNvPr id="2" name="TextBox 1"/>
          <p:cNvSpPr txBox="1"/>
          <p:nvPr/>
        </p:nvSpPr>
        <p:spPr>
          <a:xfrm>
            <a:off x="566928" y="219456"/>
            <a:ext cx="11064240" cy="274320"/>
          </a:xfrm>
          <a:prstGeom prst="rect">
            <a:avLst/>
          </a:prstGeom>
          <a:noFill/>
        </p:spPr>
        <p:txBody>
          <a:bodyPr wrap="square" lIns="0" rIns="0" tIns="0" bIns="0">
            <a:spAutoFit/>
          </a:bodyPr>
          <a:lstStyle/>
          <a:p>
            <a:r>
              <a:rPr sz="1400" b="1" i="0" spc="140">
                <a:solidFill>
                  <a:srgbClr val="56B4E9"/>
                </a:solidFill>
                <a:latin typeface="Calibri"/>
              </a:rPr>
              <a:t>WHAT I'D DO NEXT</a:t>
            </a:r>
          </a:p>
        </p:txBody>
      </p:sp>
      <p:sp>
        <p:nvSpPr>
          <p:cNvPr id="3" name="TextBox 2"/>
          <p:cNvSpPr txBox="1"/>
          <p:nvPr/>
        </p:nvSpPr>
        <p:spPr>
          <a:xfrm>
            <a:off x="566928" y="566928"/>
            <a:ext cx="11064240" cy="1051560"/>
          </a:xfrm>
          <a:prstGeom prst="rect">
            <a:avLst/>
          </a:prstGeom>
          <a:noFill/>
        </p:spPr>
        <p:txBody>
          <a:bodyPr wrap="square" lIns="0" rIns="0" tIns="0" bIns="0">
            <a:spAutoFit/>
          </a:bodyPr>
          <a:lstStyle/>
          <a:p>
            <a:pPr>
              <a:lnSpc>
                <a:spcPts val="3700"/>
              </a:lnSpc>
            </a:pPr>
            <a:r>
              <a:rPr sz="3000" b="1" i="0">
                <a:solidFill>
                  <a:srgbClr val="FFFFFF"/>
                </a:solidFill>
                <a:latin typeface="Cambria"/>
              </a:rPr>
              <a:t>The four things most likely to kill this — and what I would check before writing production code.</a:t>
            </a:r>
          </a:p>
        </p:txBody>
      </p:sp>
      <p:sp>
        <p:nvSpPr>
          <p:cNvPr id="4" name="Rounded Rectangle 3"/>
          <p:cNvSpPr/>
          <p:nvPr/>
        </p:nvSpPr>
        <p:spPr>
          <a:xfrm>
            <a:off x="566928" y="1810512"/>
            <a:ext cx="5541264" cy="1298448"/>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04672" y="1938528"/>
            <a:ext cx="5029200" cy="310896"/>
          </a:xfrm>
          <a:prstGeom prst="rect">
            <a:avLst/>
          </a:prstGeom>
          <a:noFill/>
        </p:spPr>
        <p:txBody>
          <a:bodyPr wrap="square" lIns="0" rIns="0" tIns="0" bIns="0">
            <a:spAutoFit/>
          </a:bodyPr>
          <a:lstStyle/>
          <a:p>
            <a:r>
              <a:rPr sz="1600" b="1" i="0">
                <a:solidFill>
                  <a:srgbClr val="E69F00"/>
                </a:solidFill>
                <a:latin typeface="Calibri"/>
              </a:rPr>
              <a:t>A cart card can cost you the order</a:t>
            </a:r>
          </a:p>
        </p:txBody>
      </p:sp>
      <p:sp>
        <p:nvSpPr>
          <p:cNvPr id="6" name="TextBox 5"/>
          <p:cNvSpPr txBox="1"/>
          <p:nvPr/>
        </p:nvSpPr>
        <p:spPr>
          <a:xfrm>
            <a:off x="804672" y="2267712"/>
            <a:ext cx="5029200" cy="786384"/>
          </a:xfrm>
          <a:prstGeom prst="rect">
            <a:avLst/>
          </a:prstGeom>
          <a:noFill/>
        </p:spPr>
        <p:txBody>
          <a:bodyPr wrap="square" lIns="0" rIns="0" tIns="0" bIns="0">
            <a:spAutoFit/>
          </a:bodyPr>
          <a:lstStyle/>
          <a:p>
            <a:pPr>
              <a:lnSpc>
                <a:spcPts val="1600"/>
              </a:lnSpc>
            </a:pPr>
            <a:r>
              <a:rPr sz="1400" b="0" i="0">
                <a:solidFill>
                  <a:srgbClr val="E0D6EF"/>
                </a:solidFill>
                <a:latin typeface="Calibri"/>
              </a:rPr>
              <a:t>Moving to the cart follows the evidence but raises the stakes: anything that delays checkout risks the basket that was already converting. Main-basket conversion is therefore the hardest guardrail, and I would kill the feature over it.</a:t>
            </a:r>
          </a:p>
        </p:txBody>
      </p:sp>
      <p:sp>
        <p:nvSpPr>
          <p:cNvPr id="7" name="Rounded Rectangle 6"/>
          <p:cNvSpPr/>
          <p:nvPr/>
        </p:nvSpPr>
        <p:spPr>
          <a:xfrm>
            <a:off x="6309360" y="1810512"/>
            <a:ext cx="5541264" cy="1298448"/>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47104" y="1938528"/>
            <a:ext cx="5029200" cy="310896"/>
          </a:xfrm>
          <a:prstGeom prst="rect">
            <a:avLst/>
          </a:prstGeom>
          <a:noFill/>
        </p:spPr>
        <p:txBody>
          <a:bodyPr wrap="square" lIns="0" rIns="0" tIns="0" bIns="0">
            <a:spAutoFit/>
          </a:bodyPr>
          <a:lstStyle/>
          <a:p>
            <a:r>
              <a:rPr sz="1600" b="1" i="0">
                <a:solidFill>
                  <a:srgbClr val="E69F00"/>
                </a:solidFill>
                <a:latin typeface="Calibri"/>
              </a:rPr>
              <a:t>Reverse logistics is the expensive half</a:t>
            </a:r>
          </a:p>
        </p:txBody>
      </p:sp>
      <p:sp>
        <p:nvSpPr>
          <p:cNvPr id="9" name="TextBox 8"/>
          <p:cNvSpPr txBox="1"/>
          <p:nvPr/>
        </p:nvSpPr>
        <p:spPr>
          <a:xfrm>
            <a:off x="6547104" y="2267712"/>
            <a:ext cx="5029200" cy="786384"/>
          </a:xfrm>
          <a:prstGeom prst="rect">
            <a:avLst/>
          </a:prstGeom>
          <a:noFill/>
        </p:spPr>
        <p:txBody>
          <a:bodyPr wrap="square" lIns="0" rIns="0" tIns="0" bIns="0">
            <a:spAutoFit/>
          </a:bodyPr>
          <a:lstStyle/>
          <a:p>
            <a:pPr>
              <a:lnSpc>
                <a:spcPts val="1600"/>
              </a:lnSpc>
            </a:pPr>
            <a:r>
              <a:rPr sz="1400" b="0" i="0">
                <a:solidFill>
                  <a:srgbClr val="E0D6EF"/>
                </a:solidFill>
                <a:latin typeface="Calibri"/>
              </a:rPr>
              <a:t>Free returns is a one-line policy change and a genuinely hard operational programme on a ten-minute network. The policy is not the work.</a:t>
            </a:r>
          </a:p>
        </p:txBody>
      </p:sp>
      <p:sp>
        <p:nvSpPr>
          <p:cNvPr id="10" name="Rounded Rectangle 9"/>
          <p:cNvSpPr/>
          <p:nvPr/>
        </p:nvSpPr>
        <p:spPr>
          <a:xfrm>
            <a:off x="566928" y="3273552"/>
            <a:ext cx="5541264" cy="1298448"/>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2" y="3401568"/>
            <a:ext cx="5029200" cy="310896"/>
          </a:xfrm>
          <a:prstGeom prst="rect">
            <a:avLst/>
          </a:prstGeom>
          <a:noFill/>
        </p:spPr>
        <p:txBody>
          <a:bodyPr wrap="square" lIns="0" rIns="0" tIns="0" bIns="0">
            <a:spAutoFit/>
          </a:bodyPr>
          <a:lstStyle/>
          <a:p>
            <a:r>
              <a:rPr sz="1600" b="1" i="0">
                <a:solidFill>
                  <a:srgbClr val="E69F00"/>
                </a:solidFill>
                <a:latin typeface="Calibri"/>
              </a:rPr>
              <a:t>A wrong reason is a category risk, not a bug</a:t>
            </a:r>
          </a:p>
        </p:txBody>
      </p:sp>
      <p:sp>
        <p:nvSpPr>
          <p:cNvPr id="12" name="TextBox 11"/>
          <p:cNvSpPr txBox="1"/>
          <p:nvPr/>
        </p:nvSpPr>
        <p:spPr>
          <a:xfrm>
            <a:off x="804672" y="3730752"/>
            <a:ext cx="5029200" cy="786384"/>
          </a:xfrm>
          <a:prstGeom prst="rect">
            <a:avLst/>
          </a:prstGeom>
          <a:noFill/>
        </p:spPr>
        <p:txBody>
          <a:bodyPr wrap="square" lIns="0" rIns="0" tIns="0" bIns="0">
            <a:spAutoFit/>
          </a:bodyPr>
          <a:lstStyle/>
          <a:p>
            <a:pPr>
              <a:lnSpc>
                <a:spcPts val="1600"/>
              </a:lnSpc>
            </a:pPr>
            <a:r>
              <a:rPr sz="1400" b="0" i="0">
                <a:solidFill>
                  <a:srgbClr val="E0D6EF"/>
                </a:solidFill>
                <a:latin typeface="Calibri"/>
              </a:rPr>
              <a:t>Generation stays constrained to verified catalogue and review data, with a hard blocklist on health and safety claims. One invented ingredient claim on a baby product is a regulatory event.</a:t>
            </a:r>
          </a:p>
        </p:txBody>
      </p:sp>
      <p:sp>
        <p:nvSpPr>
          <p:cNvPr id="13" name="Rounded Rectangle 12"/>
          <p:cNvSpPr/>
          <p:nvPr/>
        </p:nvSpPr>
        <p:spPr>
          <a:xfrm>
            <a:off x="6309360" y="3273552"/>
            <a:ext cx="5541264" cy="1298448"/>
          </a:xfrm>
          <a:prstGeom prst="roundRect">
            <a:avLst>
              <a:gd name="adj" fmla="val 5500"/>
            </a:avLst>
          </a:prstGeom>
          <a:solidFill>
            <a:srgbClr val="4A2A70"/>
          </a:solidFill>
          <a:ln w="9525">
            <a:solidFill>
              <a:srgbClr val="6B4A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47104" y="3401568"/>
            <a:ext cx="5029200" cy="310896"/>
          </a:xfrm>
          <a:prstGeom prst="rect">
            <a:avLst/>
          </a:prstGeom>
          <a:noFill/>
        </p:spPr>
        <p:txBody>
          <a:bodyPr wrap="square" lIns="0" rIns="0" tIns="0" bIns="0">
            <a:spAutoFit/>
          </a:bodyPr>
          <a:lstStyle/>
          <a:p>
            <a:r>
              <a:rPr sz="1600" b="1" i="0">
                <a:solidFill>
                  <a:srgbClr val="E69F00"/>
                </a:solidFill>
                <a:latin typeface="Calibri"/>
              </a:rPr>
              <a:t>Checkout-adjacent additions have history</a:t>
            </a:r>
          </a:p>
        </p:txBody>
      </p:sp>
      <p:sp>
        <p:nvSpPr>
          <p:cNvPr id="15" name="TextBox 14"/>
          <p:cNvSpPr txBox="1"/>
          <p:nvPr/>
        </p:nvSpPr>
        <p:spPr>
          <a:xfrm>
            <a:off x="6547104" y="3730752"/>
            <a:ext cx="5029200" cy="786384"/>
          </a:xfrm>
          <a:prstGeom prst="rect">
            <a:avLst/>
          </a:prstGeom>
          <a:noFill/>
        </p:spPr>
        <p:txBody>
          <a:bodyPr wrap="square" lIns="0" rIns="0" tIns="0" bIns="0">
            <a:spAutoFit/>
          </a:bodyPr>
          <a:lstStyle/>
          <a:p>
            <a:pPr>
              <a:lnSpc>
                <a:spcPts val="1600"/>
              </a:lnSpc>
            </a:pPr>
            <a:r>
              <a:rPr sz="1400" b="0" i="0">
                <a:solidFill>
                  <a:srgbClr val="E0D6EF"/>
                </a:solidFill>
                <a:latin typeface="Calibri"/>
              </a:rPr>
              <a:t>Zepto already holds a CCPA notice on basket sneaking, and the cart is exactly where that risk lives. The line is consent: never pre-selected, never auto-added, visually separate from the basket, dismissible in one tap. Basket sneaking is adding without asking. This asks.</a:t>
            </a:r>
          </a:p>
        </p:txBody>
      </p:sp>
      <p:sp>
        <p:nvSpPr>
          <p:cNvPr id="16" name="TextBox 15"/>
          <p:cNvSpPr txBox="1"/>
          <p:nvPr/>
        </p:nvSpPr>
        <p:spPr>
          <a:xfrm>
            <a:off x="566928" y="4846320"/>
            <a:ext cx="11064240" cy="329184"/>
          </a:xfrm>
          <a:prstGeom prst="rect">
            <a:avLst/>
          </a:prstGeom>
          <a:noFill/>
        </p:spPr>
        <p:txBody>
          <a:bodyPr wrap="square" lIns="0" rIns="0" tIns="0" bIns="0">
            <a:spAutoFit/>
          </a:bodyPr>
          <a:lstStyle/>
          <a:p>
            <a:r>
              <a:rPr sz="1700" b="1" i="0">
                <a:solidFill>
                  <a:srgbClr val="FFFFFF"/>
                </a:solidFill>
                <a:latin typeface="Cambria"/>
              </a:rPr>
              <a:t>Sources and live artefacts</a:t>
            </a:r>
          </a:p>
        </p:txBody>
      </p:sp>
      <p:sp>
        <p:nvSpPr>
          <p:cNvPr id="17" name="TextBox 16"/>
          <p:cNvSpPr txBox="1"/>
          <p:nvPr/>
        </p:nvSpPr>
        <p:spPr>
          <a:xfrm>
            <a:off x="566928" y="5248656"/>
            <a:ext cx="6309360" cy="274320"/>
          </a:xfrm>
          <a:prstGeom prst="rect">
            <a:avLst/>
          </a:prstGeom>
          <a:noFill/>
        </p:spPr>
        <p:txBody>
          <a:bodyPr wrap="square" lIns="0" rIns="0" tIns="0" bIns="0">
            <a:spAutoFit/>
          </a:bodyPr>
          <a:lstStyle/>
          <a:p>
            <a:r>
              <a:rPr sz="1400" b="0" i="0">
                <a:solidFill>
                  <a:srgbClr val="D7CDE8"/>
                </a:solidFill>
                <a:latin typeface="Calibri"/>
              </a:rPr>
              <a:t>Live workflow, live classifier and the First Buy prototype</a:t>
            </a:r>
          </a:p>
        </p:txBody>
      </p:sp>
      <p:sp>
        <p:nvSpPr>
          <p:cNvPr id="18" name="TextBox 17"/>
          <p:cNvSpPr txBox="1"/>
          <p:nvPr/>
        </p:nvSpPr>
        <p:spPr>
          <a:xfrm>
            <a:off x="7040880" y="5248656"/>
            <a:ext cx="4572000" cy="274320"/>
          </a:xfrm>
          <a:prstGeom prst="rect">
            <a:avLst/>
          </a:prstGeom>
          <a:noFill/>
        </p:spPr>
        <p:txBody>
          <a:bodyPr wrap="square" lIns="0" rIns="0" tIns="0" bIns="0">
            <a:spAutoFit/>
          </a:bodyPr>
          <a:lstStyle/>
          <a:p>
            <a:r>
              <a:rPr sz="1400" b="1" i="0">
                <a:solidFill>
                  <a:srgbClr val="56B4E9"/>
                </a:solidFill>
                <a:latin typeface="Calibri"/>
                <a:hlinkClick r:id="rId2"/>
              </a:rPr>
              <a:t>zepto-discovery-engine.netlify.app</a:t>
            </a:r>
          </a:p>
        </p:txBody>
      </p:sp>
      <p:sp>
        <p:nvSpPr>
          <p:cNvPr id="19" name="TextBox 18"/>
          <p:cNvSpPr txBox="1"/>
          <p:nvPr/>
        </p:nvSpPr>
        <p:spPr>
          <a:xfrm>
            <a:off x="566928" y="5568696"/>
            <a:ext cx="6309360" cy="274320"/>
          </a:xfrm>
          <a:prstGeom prst="rect">
            <a:avLst/>
          </a:prstGeom>
          <a:noFill/>
        </p:spPr>
        <p:txBody>
          <a:bodyPr wrap="square" lIns="0" rIns="0" tIns="0" bIns="0">
            <a:spAutoFit/>
          </a:bodyPr>
          <a:lstStyle/>
          <a:p>
            <a:r>
              <a:rPr sz="1400" b="0" i="0">
                <a:solidFill>
                  <a:srgbClr val="D7CDE8"/>
                </a:solidFill>
                <a:latin typeface="Calibri"/>
              </a:rPr>
              <a:t>Research appendix — method, all six interviews, validation in full</a:t>
            </a:r>
          </a:p>
        </p:txBody>
      </p:sp>
      <p:sp>
        <p:nvSpPr>
          <p:cNvPr id="20" name="TextBox 19"/>
          <p:cNvSpPr txBox="1"/>
          <p:nvPr/>
        </p:nvSpPr>
        <p:spPr>
          <a:xfrm>
            <a:off x="7040880" y="5568696"/>
            <a:ext cx="4572000" cy="274320"/>
          </a:xfrm>
          <a:prstGeom prst="rect">
            <a:avLst/>
          </a:prstGeom>
          <a:noFill/>
        </p:spPr>
        <p:txBody>
          <a:bodyPr wrap="square" lIns="0" rIns="0" tIns="0" bIns="0">
            <a:spAutoFit/>
          </a:bodyPr>
          <a:lstStyle/>
          <a:p>
            <a:r>
              <a:rPr sz="1400" b="1" i="0">
                <a:solidFill>
                  <a:srgbClr val="56B4E9"/>
                </a:solidFill>
                <a:latin typeface="Calibri"/>
                <a:hlinkClick r:id="rId3"/>
              </a:rPr>
              <a:t>docs.google.com · appendix</a:t>
            </a:r>
          </a:p>
        </p:txBody>
      </p:sp>
      <p:sp>
        <p:nvSpPr>
          <p:cNvPr id="21" name="TextBox 20"/>
          <p:cNvSpPr txBox="1"/>
          <p:nvPr/>
        </p:nvSpPr>
        <p:spPr>
          <a:xfrm>
            <a:off x="566928" y="5888736"/>
            <a:ext cx="6309360" cy="274320"/>
          </a:xfrm>
          <a:prstGeom prst="rect">
            <a:avLst/>
          </a:prstGeom>
          <a:noFill/>
        </p:spPr>
        <p:txBody>
          <a:bodyPr wrap="square" lIns="0" rIns="0" tIns="0" bIns="0">
            <a:spAutoFit/>
          </a:bodyPr>
          <a:lstStyle/>
          <a:p>
            <a:r>
              <a:rPr sz="1400" b="0" i="0">
                <a:solidFill>
                  <a:srgbClr val="D7CDE8"/>
                </a:solidFill>
                <a:latin typeface="Calibri"/>
              </a:rPr>
              <a:t>Zepto DRHP analysis — category cohort, ATU, per-order economics</a:t>
            </a:r>
          </a:p>
        </p:txBody>
      </p:sp>
      <p:sp>
        <p:nvSpPr>
          <p:cNvPr id="22" name="TextBox 21"/>
          <p:cNvSpPr txBox="1"/>
          <p:nvPr/>
        </p:nvSpPr>
        <p:spPr>
          <a:xfrm>
            <a:off x="7040880" y="5888736"/>
            <a:ext cx="4572000" cy="274320"/>
          </a:xfrm>
          <a:prstGeom prst="rect">
            <a:avLst/>
          </a:prstGeom>
          <a:noFill/>
        </p:spPr>
        <p:txBody>
          <a:bodyPr wrap="square" lIns="0" rIns="0" tIns="0" bIns="0">
            <a:spAutoFit/>
          </a:bodyPr>
          <a:lstStyle/>
          <a:p>
            <a:r>
              <a:rPr sz="1400" b="1" i="0">
                <a:solidFill>
                  <a:srgbClr val="56B4E9"/>
                </a:solidFill>
                <a:latin typeface="Calibri"/>
                <a:hlinkClick r:id="rId4"/>
              </a:rPr>
              <a:t>finixschool.substack.com</a:t>
            </a:r>
          </a:p>
        </p:txBody>
      </p:sp>
      <p:sp>
        <p:nvSpPr>
          <p:cNvPr id="23" name="TextBox 22"/>
          <p:cNvSpPr txBox="1"/>
          <p:nvPr/>
        </p:nvSpPr>
        <p:spPr>
          <a:xfrm>
            <a:off x="566928" y="6208776"/>
            <a:ext cx="6309360" cy="274320"/>
          </a:xfrm>
          <a:prstGeom prst="rect">
            <a:avLst/>
          </a:prstGeom>
          <a:noFill/>
        </p:spPr>
        <p:txBody>
          <a:bodyPr wrap="square" lIns="0" rIns="0" tIns="0" bIns="0">
            <a:spAutoFit/>
          </a:bodyPr>
          <a:lstStyle/>
          <a:p>
            <a:r>
              <a:rPr sz="1400" b="0" i="0">
                <a:solidFill>
                  <a:srgbClr val="D7CDE8"/>
                </a:solidFill>
                <a:latin typeface="Calibri"/>
              </a:rPr>
              <a:t>India quick-commerce category mix, CY25–CY30</a:t>
            </a:r>
          </a:p>
        </p:txBody>
      </p:sp>
      <p:sp>
        <p:nvSpPr>
          <p:cNvPr id="24" name="TextBox 23"/>
          <p:cNvSpPr txBox="1"/>
          <p:nvPr/>
        </p:nvSpPr>
        <p:spPr>
          <a:xfrm>
            <a:off x="7040880" y="6208776"/>
            <a:ext cx="4572000" cy="274320"/>
          </a:xfrm>
          <a:prstGeom prst="rect">
            <a:avLst/>
          </a:prstGeom>
          <a:noFill/>
        </p:spPr>
        <p:txBody>
          <a:bodyPr wrap="square" lIns="0" rIns="0" tIns="0" bIns="0">
            <a:spAutoFit/>
          </a:bodyPr>
          <a:lstStyle/>
          <a:p>
            <a:r>
              <a:rPr sz="1400" b="1" i="0">
                <a:solidFill>
                  <a:srgbClr val="56B4E9"/>
                </a:solidFill>
                <a:latin typeface="Calibri"/>
                <a:hlinkClick r:id="rId5"/>
              </a:rPr>
              <a:t>mordorintelligence.com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6B4E9"/>
      </a:hlink>
      <a:folHlink>
        <a:srgbClr val="9CC9E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 Zepto</dc:title>
  <dc:subject/>
  <dc:creator/>
  <cp:keywords/>
  <dc:description/>
  <cp:lastModifiedBy/>
  <cp:revision>1</cp:revision>
  <dcterms:created xsi:type="dcterms:W3CDTF">2013-01-27T09:14:16Z</dcterms:created>
  <dcterms:modified xsi:type="dcterms:W3CDTF">2013-01-27T09:15:58Z</dcterms:modified>
  <cp:category/>
</cp:coreProperties>
</file>